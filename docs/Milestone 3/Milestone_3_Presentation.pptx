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HK Modular" charset="1" panose="00000800000000000000"/>
      <p:regular r:id="rId21"/>
    </p:embeddedFont>
    <p:embeddedFont>
      <p:font typeface="HK Grotesk" charset="1" panose="00000500000000000000"/>
      <p:regular r:id="rId22"/>
    </p:embeddedFont>
    <p:embeddedFont>
      <p:font typeface="Archivo Black" charset="1" panose="020B0A03020202020B04"/>
      <p:regular r:id="rId23"/>
    </p:embeddedFont>
    <p:embeddedFont>
      <p:font typeface="Canva Sans" charset="1" panose="020B0503030501040103"/>
      <p:regular r:id="rId24"/>
    </p:embeddedFont>
    <p:embeddedFont>
      <p:font typeface="Mina" charset="1" panose="02000503000000000000"/>
      <p:regular r:id="rId25"/>
    </p:embeddedFont>
    <p:embeddedFont>
      <p:font typeface="Canva Sans Bold" charset="1" panose="020B08030305010401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50000">
              <a:srgbClr val="32032F">
                <a:alpha val="100000"/>
              </a:srgbClr>
            </a:gs>
            <a:gs pos="100000">
              <a:srgbClr val="701B7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1913" y="4437278"/>
            <a:ext cx="13042827" cy="1921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72"/>
              </a:lnSpc>
              <a:spcBef>
                <a:spcPct val="0"/>
              </a:spcBef>
            </a:pPr>
            <a:r>
              <a:rPr lang="en-US" sz="6393" spc="479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RAG-BASED LLM CODE REVIEW AGENT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40118" y="6825698"/>
            <a:ext cx="8207765" cy="390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8"/>
              </a:lnSpc>
            </a:pPr>
            <a:r>
              <a:rPr lang="en-US" sz="2270" spc="88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MILESTONE 3</a:t>
            </a:r>
          </a:p>
        </p:txBody>
      </p:sp>
      <p:grpSp>
        <p:nvGrpSpPr>
          <p:cNvPr name="Group 4" id="4"/>
          <p:cNvGrpSpPr/>
          <p:nvPr/>
        </p:nvGrpSpPr>
        <p:grpSpPr>
          <a:xfrm rot="8635896">
            <a:off x="2372223" y="1114108"/>
            <a:ext cx="3623585" cy="263623"/>
            <a:chOff x="0" y="0"/>
            <a:chExt cx="952142" cy="69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2464847">
            <a:off x="355729" y="8892451"/>
            <a:ext cx="3623585" cy="263623"/>
            <a:chOff x="0" y="0"/>
            <a:chExt cx="952142" cy="692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8635896">
            <a:off x="4084427" y="679668"/>
            <a:ext cx="3623585" cy="263623"/>
            <a:chOff x="0" y="0"/>
            <a:chExt cx="952142" cy="69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2464847">
            <a:off x="-1311970" y="9474826"/>
            <a:ext cx="3623585" cy="263623"/>
            <a:chOff x="0" y="0"/>
            <a:chExt cx="952142" cy="692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2142" cy="69270"/>
            </a:xfrm>
            <a:custGeom>
              <a:avLst/>
              <a:gdLst/>
              <a:ahLst/>
              <a:cxnLst/>
              <a:rect r="r" b="b" t="t" l="l"/>
              <a:pathLst>
                <a:path h="69270" w="952142">
                  <a:moveTo>
                    <a:pt x="34635" y="0"/>
                  </a:moveTo>
                  <a:lnTo>
                    <a:pt x="917507" y="0"/>
                  </a:lnTo>
                  <a:cubicBezTo>
                    <a:pt x="926692" y="0"/>
                    <a:pt x="935502" y="3649"/>
                    <a:pt x="941997" y="10144"/>
                  </a:cubicBezTo>
                  <a:cubicBezTo>
                    <a:pt x="948493" y="16640"/>
                    <a:pt x="952142" y="25449"/>
                    <a:pt x="952142" y="34635"/>
                  </a:cubicBezTo>
                  <a:lnTo>
                    <a:pt x="952142" y="34635"/>
                  </a:lnTo>
                  <a:cubicBezTo>
                    <a:pt x="952142" y="43821"/>
                    <a:pt x="948493" y="52631"/>
                    <a:pt x="941997" y="59126"/>
                  </a:cubicBezTo>
                  <a:cubicBezTo>
                    <a:pt x="935502" y="65621"/>
                    <a:pt x="926692" y="69270"/>
                    <a:pt x="917507" y="69270"/>
                  </a:cubicBezTo>
                  <a:lnTo>
                    <a:pt x="34635" y="69270"/>
                  </a:lnTo>
                  <a:cubicBezTo>
                    <a:pt x="25449" y="69270"/>
                    <a:pt x="16640" y="65621"/>
                    <a:pt x="10144" y="59126"/>
                  </a:cubicBezTo>
                  <a:cubicBezTo>
                    <a:pt x="3649" y="52631"/>
                    <a:pt x="0" y="43821"/>
                    <a:pt x="0" y="34635"/>
                  </a:cubicBezTo>
                  <a:lnTo>
                    <a:pt x="0" y="34635"/>
                  </a:lnTo>
                  <a:cubicBezTo>
                    <a:pt x="0" y="25449"/>
                    <a:pt x="3649" y="16640"/>
                    <a:pt x="10144" y="10144"/>
                  </a:cubicBezTo>
                  <a:cubicBezTo>
                    <a:pt x="16640" y="3649"/>
                    <a:pt x="25449" y="0"/>
                    <a:pt x="3463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952142" cy="1264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47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986967" y="875247"/>
            <a:ext cx="12314066" cy="760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49"/>
              </a:lnSpc>
              <a:spcBef>
                <a:spcPct val="0"/>
              </a:spcBef>
            </a:pPr>
            <a:r>
              <a:rPr lang="en-US" sz="51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</a:t>
            </a:r>
            <a:r>
              <a:rPr lang="en-US" sz="51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ata Science and AI Lab Project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40118" y="1826517"/>
            <a:ext cx="8207765" cy="5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7"/>
              </a:lnSpc>
              <a:spcBef>
                <a:spcPct val="0"/>
              </a:spcBef>
            </a:pPr>
            <a:r>
              <a:rPr lang="en-US" sz="37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GROUP 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89587" y="3019742"/>
            <a:ext cx="10338740" cy="4780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esign architecture for Code Review Assistant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ocess PR diffs → structured outputs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 the Retrieval-Augmented (RAG) approach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ine retrieval + lightweight generation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Ensu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 an explainable &amp; modular system</a:t>
            </a:r>
          </a:p>
          <a:p>
            <a:pPr algn="just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and validate working prototype</a:t>
            </a:r>
          </a:p>
          <a:p>
            <a:pPr algn="r">
              <a:lnSpc>
                <a:spcPts val="475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818287" y="1927761"/>
            <a:ext cx="8441013" cy="59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8"/>
              </a:lnSpc>
              <a:spcBef>
                <a:spcPct val="0"/>
              </a:spcBef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Objectives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224242" y="0"/>
            <a:ext cx="6686787" cy="10287000"/>
            <a:chOff x="0" y="0"/>
            <a:chExt cx="809471" cy="124529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68310" y="0"/>
                  </a:moveTo>
                  <a:lnTo>
                    <a:pt x="741161" y="0"/>
                  </a:lnTo>
                  <a:cubicBezTo>
                    <a:pt x="778887" y="0"/>
                    <a:pt x="809471" y="30583"/>
                    <a:pt x="809471" y="68310"/>
                  </a:cubicBezTo>
                  <a:lnTo>
                    <a:pt x="809471" y="1176986"/>
                  </a:lnTo>
                  <a:cubicBezTo>
                    <a:pt x="809471" y="1195102"/>
                    <a:pt x="802274" y="1212477"/>
                    <a:pt x="789463" y="1225288"/>
                  </a:cubicBezTo>
                  <a:cubicBezTo>
                    <a:pt x="776653" y="1238098"/>
                    <a:pt x="759278" y="1245295"/>
                    <a:pt x="741161" y="1245295"/>
                  </a:cubicBezTo>
                  <a:lnTo>
                    <a:pt x="68310" y="1245295"/>
                  </a:lnTo>
                  <a:cubicBezTo>
                    <a:pt x="50193" y="1245295"/>
                    <a:pt x="32818" y="1238098"/>
                    <a:pt x="20007" y="1225288"/>
                  </a:cubicBezTo>
                  <a:cubicBezTo>
                    <a:pt x="7197" y="1212477"/>
                    <a:pt x="0" y="1195102"/>
                    <a:pt x="0" y="1176986"/>
                  </a:cubicBezTo>
                  <a:lnTo>
                    <a:pt x="0" y="68310"/>
                  </a:lnTo>
                  <a:cubicBezTo>
                    <a:pt x="0" y="50193"/>
                    <a:pt x="7197" y="32818"/>
                    <a:pt x="20007" y="20007"/>
                  </a:cubicBezTo>
                  <a:cubicBezTo>
                    <a:pt x="32818" y="7197"/>
                    <a:pt x="50193" y="0"/>
                    <a:pt x="68310" y="0"/>
                  </a:cubicBezTo>
                  <a:close/>
                </a:path>
              </a:pathLst>
            </a:custGeom>
            <a:blipFill>
              <a:blip r:embed="rId2"/>
              <a:stretch>
                <a:fillRect l="-108115" t="0" r="-22645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1183" y="0"/>
            <a:ext cx="10137249" cy="10287000"/>
            <a:chOff x="0" y="0"/>
            <a:chExt cx="26698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98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9893">
                  <a:moveTo>
                    <a:pt x="43531" y="0"/>
                  </a:moveTo>
                  <a:lnTo>
                    <a:pt x="2626361" y="0"/>
                  </a:lnTo>
                  <a:cubicBezTo>
                    <a:pt x="2650403" y="0"/>
                    <a:pt x="2669893" y="19490"/>
                    <a:pt x="2669893" y="43531"/>
                  </a:cubicBezTo>
                  <a:lnTo>
                    <a:pt x="2669893" y="2665802"/>
                  </a:lnTo>
                  <a:cubicBezTo>
                    <a:pt x="2669893" y="2689844"/>
                    <a:pt x="2650403" y="2709333"/>
                    <a:pt x="2626361" y="2709333"/>
                  </a:cubicBezTo>
                  <a:lnTo>
                    <a:pt x="43531" y="2709333"/>
                  </a:lnTo>
                  <a:cubicBezTo>
                    <a:pt x="19490" y="2709333"/>
                    <a:pt x="0" y="2689844"/>
                    <a:pt x="0" y="2665802"/>
                  </a:cubicBezTo>
                  <a:lnTo>
                    <a:pt x="0" y="43531"/>
                  </a:lnTo>
                  <a:cubicBezTo>
                    <a:pt x="0" y="19490"/>
                    <a:pt x="19490" y="0"/>
                    <a:pt x="43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698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312912" y="2396503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312912" y="4943540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836653" y="4145130"/>
            <a:ext cx="5869557" cy="6415737"/>
            <a:chOff x="0" y="0"/>
            <a:chExt cx="909348" cy="99396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09348" cy="993965"/>
            </a:xfrm>
            <a:custGeom>
              <a:avLst/>
              <a:gdLst/>
              <a:ahLst/>
              <a:cxnLst/>
              <a:rect r="r" b="b" t="t" l="l"/>
              <a:pathLst>
                <a:path h="993965" w="909348">
                  <a:moveTo>
                    <a:pt x="77821" y="0"/>
                  </a:moveTo>
                  <a:lnTo>
                    <a:pt x="831527" y="0"/>
                  </a:lnTo>
                  <a:cubicBezTo>
                    <a:pt x="852167" y="0"/>
                    <a:pt x="871961" y="8199"/>
                    <a:pt x="886555" y="22793"/>
                  </a:cubicBezTo>
                  <a:cubicBezTo>
                    <a:pt x="901149" y="37387"/>
                    <a:pt x="909348" y="57181"/>
                    <a:pt x="909348" y="77821"/>
                  </a:cubicBezTo>
                  <a:lnTo>
                    <a:pt x="909348" y="916145"/>
                  </a:lnTo>
                  <a:cubicBezTo>
                    <a:pt x="909348" y="959124"/>
                    <a:pt x="874507" y="993965"/>
                    <a:pt x="831527" y="993965"/>
                  </a:cubicBezTo>
                  <a:lnTo>
                    <a:pt x="77821" y="993965"/>
                  </a:lnTo>
                  <a:cubicBezTo>
                    <a:pt x="57181" y="993965"/>
                    <a:pt x="37387" y="985767"/>
                    <a:pt x="22793" y="971172"/>
                  </a:cubicBezTo>
                  <a:cubicBezTo>
                    <a:pt x="8199" y="956578"/>
                    <a:pt x="0" y="936784"/>
                    <a:pt x="0" y="916145"/>
                  </a:cubicBezTo>
                  <a:lnTo>
                    <a:pt x="0" y="77821"/>
                  </a:lnTo>
                  <a:cubicBezTo>
                    <a:pt x="0" y="57181"/>
                    <a:pt x="8199" y="37387"/>
                    <a:pt x="22793" y="22793"/>
                  </a:cubicBezTo>
                  <a:cubicBezTo>
                    <a:pt x="37387" y="8199"/>
                    <a:pt x="57181" y="0"/>
                    <a:pt x="77821" y="0"/>
                  </a:cubicBezTo>
                  <a:close/>
                </a:path>
              </a:pathLst>
            </a:custGeom>
            <a:blipFill>
              <a:blip r:embed="rId2"/>
              <a:stretch>
                <a:fillRect l="-55618" t="0" r="-8338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1957" y="416437"/>
            <a:ext cx="7721147" cy="185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66"/>
              </a:lnSpc>
              <a:spcBef>
                <a:spcPct val="0"/>
              </a:spcBef>
            </a:pPr>
            <a:r>
              <a:rPr lang="en-US" b="true" sz="3224" spc="241" strike="noStrike" u="none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Dataset Organization </a:t>
            </a:r>
          </a:p>
          <a:p>
            <a:pPr algn="l" marL="0" indent="0" lvl="0">
              <a:lnSpc>
                <a:spcPts val="4966"/>
              </a:lnSpc>
              <a:spcBef>
                <a:spcPct val="0"/>
              </a:spcBef>
            </a:pPr>
            <a:r>
              <a:rPr lang="en-US" b="true" sz="3224" spc="241" strike="noStrike" u="none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                &amp; </a:t>
            </a:r>
          </a:p>
          <a:p>
            <a:pPr algn="l" marL="0" indent="0" lvl="0">
              <a:lnSpc>
                <a:spcPts val="4966"/>
              </a:lnSpc>
              <a:spcBef>
                <a:spcPct val="0"/>
              </a:spcBef>
            </a:pPr>
            <a:r>
              <a:rPr lang="en-US" b="true" sz="3224" spc="241" strike="noStrike" u="none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          Components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99675" y="1162525"/>
            <a:ext cx="900317" cy="50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1506" y="1143475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Structure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99992" y="1689095"/>
            <a:ext cx="4397184" cy="23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Two layers: Raw Data &amp; Processed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46268" y="2593482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1506" y="2589687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Directory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799675" y="5034027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1506" y="5098805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Core Datasets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4097176" y="2495519"/>
            <a:ext cx="4361759" cy="5138152"/>
          </a:xfrm>
          <a:custGeom>
            <a:avLst/>
            <a:gdLst/>
            <a:ahLst/>
            <a:cxnLst/>
            <a:rect r="r" b="b" t="t" l="l"/>
            <a:pathLst>
              <a:path h="5138152" w="4361759">
                <a:moveTo>
                  <a:pt x="0" y="0"/>
                </a:moveTo>
                <a:lnTo>
                  <a:pt x="4361760" y="0"/>
                </a:lnTo>
                <a:lnTo>
                  <a:pt x="4361760" y="5138152"/>
                </a:lnTo>
                <a:lnTo>
                  <a:pt x="0" y="5138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699992" y="2030893"/>
            <a:ext cx="4599537" cy="23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Ensures clear separation &amp; modular design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99992" y="3087066"/>
            <a:ext cx="3001812" cy="122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raw/ → original datasets</a:t>
            </a:r>
          </a:p>
          <a:p>
            <a:pPr algn="l" marL="323132" indent="-161566" lvl="1">
              <a:lnSpc>
                <a:spcPts val="1945"/>
              </a:lnSpc>
              <a:buFont typeface="Arial"/>
              <a:buChar char="•"/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Evaluation dataset</a:t>
            </a:r>
          </a:p>
          <a:p>
            <a:pPr algn="l" marL="323132" indent="-161566" lvl="1">
              <a:lnSpc>
                <a:spcPts val="1945"/>
              </a:lnSpc>
              <a:buFont typeface="Arial"/>
              <a:buChar char="•"/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Retrieval corpus</a:t>
            </a:r>
          </a:p>
          <a:p>
            <a:pPr algn="l" marL="323132" indent="-161566" lvl="1">
              <a:lnSpc>
                <a:spcPts val="1945"/>
              </a:lnSpc>
              <a:buFont typeface="Arial"/>
              <a:buChar char="•"/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Static analysis input</a:t>
            </a:r>
          </a:p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699992" y="4122263"/>
            <a:ext cx="3743328" cy="976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5"/>
              </a:lnSpc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processed/ → embeddings &amp; outputs</a:t>
            </a:r>
          </a:p>
          <a:p>
            <a:pPr algn="l" marL="323132" indent="-161566" lvl="1">
              <a:lnSpc>
                <a:spcPts val="1945"/>
              </a:lnSpc>
              <a:buFont typeface="Arial"/>
              <a:buChar char="•"/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FAISS index</a:t>
            </a:r>
          </a:p>
          <a:p>
            <a:pPr algn="l" marL="323132" indent="-161566" lvl="1">
              <a:lnSpc>
                <a:spcPts val="1945"/>
              </a:lnSpc>
              <a:buFont typeface="Arial"/>
              <a:buChar char="•"/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Mil</a:t>
            </a: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estone 3 results</a:t>
            </a:r>
          </a:p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576366" y="5508561"/>
            <a:ext cx="2887960" cy="30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328" indent="-205164" lvl="1">
              <a:lnSpc>
                <a:spcPts val="2470"/>
              </a:lnSpc>
              <a:buFont typeface="Arial"/>
              <a:buChar char="•"/>
            </a:pPr>
            <a:r>
              <a:rPr lang="en-US" sz="1900" spc="-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Evaluation Dataset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76421" y="5922574"/>
            <a:ext cx="3743328" cy="23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PR diffs + labeled review comments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76366" y="6254848"/>
            <a:ext cx="2887960" cy="30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328" indent="-205164" lvl="1">
              <a:lnSpc>
                <a:spcPts val="2470"/>
              </a:lnSpc>
              <a:buFont typeface="Arial"/>
              <a:buChar char="•"/>
            </a:pPr>
            <a:r>
              <a:rPr lang="en-US" sz="1900" spc="-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Evaluation Dataset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76366" y="6982084"/>
            <a:ext cx="2887960" cy="30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328" indent="-205164" lvl="1">
              <a:lnSpc>
                <a:spcPts val="2470"/>
              </a:lnSpc>
              <a:buFont typeface="Arial"/>
              <a:buChar char="•"/>
            </a:pPr>
            <a:r>
              <a:rPr lang="en-US" sz="1900" spc="-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Evaluation Dataset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76421" y="7510397"/>
            <a:ext cx="3349760" cy="23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Rule-based baseline comparison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76421" y="6678386"/>
            <a:ext cx="4375295" cy="237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5"/>
              </a:lnSpc>
              <a:spcBef>
                <a:spcPct val="0"/>
              </a:spcBef>
            </a:pPr>
            <a:r>
              <a:rPr lang="en-US" sz="1496" spc="113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Coding guidelines (PEP8, linters, reviews)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6882" y="2420008"/>
            <a:ext cx="1414095" cy="1308560"/>
            <a:chOff x="0" y="0"/>
            <a:chExt cx="576559" cy="533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6882" y="5238750"/>
            <a:ext cx="1414095" cy="1308560"/>
            <a:chOff x="0" y="0"/>
            <a:chExt cx="576559" cy="533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7960" y="924729"/>
            <a:ext cx="5224881" cy="8037993"/>
            <a:chOff x="0" y="0"/>
            <a:chExt cx="809471" cy="1245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87423" y="0"/>
                  </a:moveTo>
                  <a:lnTo>
                    <a:pt x="722048" y="0"/>
                  </a:lnTo>
                  <a:cubicBezTo>
                    <a:pt x="770330" y="0"/>
                    <a:pt x="809471" y="39140"/>
                    <a:pt x="809471" y="87423"/>
                  </a:cubicBezTo>
                  <a:lnTo>
                    <a:pt x="809471" y="1157873"/>
                  </a:lnTo>
                  <a:cubicBezTo>
                    <a:pt x="809471" y="1181059"/>
                    <a:pt x="800260" y="1203295"/>
                    <a:pt x="783865" y="1219690"/>
                  </a:cubicBezTo>
                  <a:cubicBezTo>
                    <a:pt x="767470" y="1236085"/>
                    <a:pt x="745234" y="1245295"/>
                    <a:pt x="722048" y="1245295"/>
                  </a:cubicBezTo>
                  <a:lnTo>
                    <a:pt x="87423" y="1245295"/>
                  </a:lnTo>
                  <a:cubicBezTo>
                    <a:pt x="64237" y="1245295"/>
                    <a:pt x="42000" y="1236085"/>
                    <a:pt x="25606" y="1219690"/>
                  </a:cubicBezTo>
                  <a:cubicBezTo>
                    <a:pt x="9211" y="1203295"/>
                    <a:pt x="0" y="1181059"/>
                    <a:pt x="0" y="1157873"/>
                  </a:cubicBezTo>
                  <a:lnTo>
                    <a:pt x="0" y="87423"/>
                  </a:lnTo>
                  <a:cubicBezTo>
                    <a:pt x="0" y="64237"/>
                    <a:pt x="9211" y="42000"/>
                    <a:pt x="25606" y="25606"/>
                  </a:cubicBezTo>
                  <a:cubicBezTo>
                    <a:pt x="42000" y="9211"/>
                    <a:pt x="64237" y="0"/>
                    <a:pt x="87423" y="0"/>
                  </a:cubicBezTo>
                  <a:close/>
                </a:path>
              </a:pathLst>
            </a:custGeom>
            <a:blipFill>
              <a:blip r:embed="rId2"/>
              <a:stretch>
                <a:fillRect l="-12090" t="0" r="-1209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79703" y="2650062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2" y="0"/>
                </a:lnTo>
                <a:lnTo>
                  <a:pt x="848452" y="848453"/>
                </a:lnTo>
                <a:lnTo>
                  <a:pt x="0" y="84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1621" y="5474070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2" y="0"/>
                </a:lnTo>
                <a:lnTo>
                  <a:pt x="848452" y="848453"/>
                </a:lnTo>
                <a:lnTo>
                  <a:pt x="0" y="848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96882" y="7256364"/>
            <a:ext cx="1414095" cy="1308560"/>
            <a:chOff x="0" y="0"/>
            <a:chExt cx="576559" cy="5335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54908" y="7461623"/>
            <a:ext cx="898043" cy="898043"/>
          </a:xfrm>
          <a:custGeom>
            <a:avLst/>
            <a:gdLst/>
            <a:ahLst/>
            <a:cxnLst/>
            <a:rect r="r" b="b" t="t" l="l"/>
            <a:pathLst>
              <a:path h="898043" w="898043">
                <a:moveTo>
                  <a:pt x="0" y="0"/>
                </a:moveTo>
                <a:lnTo>
                  <a:pt x="898043" y="0"/>
                </a:lnTo>
                <a:lnTo>
                  <a:pt x="898043" y="898043"/>
                </a:lnTo>
                <a:lnTo>
                  <a:pt x="0" y="8980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837228" y="441144"/>
            <a:ext cx="7496699" cy="141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  <a:spcBef>
                <a:spcPct val="0"/>
              </a:spcBef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Data Flow &amp; Design P</a:t>
            </a:r>
            <a:r>
              <a:rPr lang="en-US" b="true" sz="3724" spc="279" strike="noStrike" u="none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rinciples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05409" y="2420008"/>
            <a:ext cx="4658266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Pipeline Flow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005409" y="5238750"/>
            <a:ext cx="8337607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Generated Outputs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5105" y="5723572"/>
            <a:ext cx="6677308" cy="153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Predictions &amp; evaluation metrics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Retrieved context + prompts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LLM-generated results</a:t>
            </a:r>
          </a:p>
          <a:p>
            <a:pPr algn="l">
              <a:lnSpc>
                <a:spcPts val="300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3415105" y="2467708"/>
            <a:ext cx="6677308" cy="267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PR Diff → Preprocessi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ng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→ Embedding Generation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→ FAISS Retrieval (Top-K)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→ Context + Prompt Creation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→ LLM Inf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erence</a:t>
            </a:r>
          </a:p>
          <a:p>
            <a:pPr algn="l" marL="498232" indent="-24911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→ Out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put: Violations + Review Comments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05409" y="7054035"/>
            <a:ext cx="8337607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Design Principles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415105" y="7534894"/>
            <a:ext cx="6677308" cy="153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Separation of raw &amp; processed data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Scalable &amp; reproducible pipeline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Optimized for RAG architecture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Fast semantic search using FAISS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88979" y="0"/>
            <a:ext cx="10137249" cy="10287000"/>
            <a:chOff x="0" y="0"/>
            <a:chExt cx="26698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98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9893">
                  <a:moveTo>
                    <a:pt x="43531" y="0"/>
                  </a:moveTo>
                  <a:lnTo>
                    <a:pt x="2626361" y="0"/>
                  </a:lnTo>
                  <a:cubicBezTo>
                    <a:pt x="2650403" y="0"/>
                    <a:pt x="2669893" y="19490"/>
                    <a:pt x="2669893" y="43531"/>
                  </a:cubicBezTo>
                  <a:lnTo>
                    <a:pt x="2669893" y="2665802"/>
                  </a:lnTo>
                  <a:cubicBezTo>
                    <a:pt x="2669893" y="2689844"/>
                    <a:pt x="2650403" y="2709333"/>
                    <a:pt x="2626361" y="2709333"/>
                  </a:cubicBezTo>
                  <a:lnTo>
                    <a:pt x="43531" y="2709333"/>
                  </a:lnTo>
                  <a:cubicBezTo>
                    <a:pt x="19490" y="2709333"/>
                    <a:pt x="0" y="2689844"/>
                    <a:pt x="0" y="2665802"/>
                  </a:cubicBezTo>
                  <a:lnTo>
                    <a:pt x="0" y="43531"/>
                  </a:lnTo>
                  <a:cubicBezTo>
                    <a:pt x="0" y="19490"/>
                    <a:pt x="19490" y="0"/>
                    <a:pt x="43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698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53565"/>
            <a:ext cx="6287636" cy="2134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Data Preprocessing Pipeline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18267" y="1047750"/>
            <a:ext cx="900317" cy="51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35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18267" y="2760587"/>
            <a:ext cx="900317" cy="51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35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18584" y="1095375"/>
            <a:ext cx="5634473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30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Purpose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18584" y="2744850"/>
            <a:ext cx="7615038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30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Evaluation Dataset 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56938" y="1681988"/>
            <a:ext cx="7476684" cy="77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Convert raw PR diffs → structured inputs</a:t>
            </a:r>
          </a:p>
          <a:p>
            <a:pPr algn="l" marL="515414" indent="-257707" lvl="1">
              <a:lnSpc>
                <a:spcPts val="310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Enable semantic retrieval + LLM inference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56938" y="3276507"/>
            <a:ext cx="7315790" cy="156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Extract relevant diff chunks</a:t>
            </a:r>
          </a:p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Clean &amp; </a:t>
            </a: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n</a:t>
            </a: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ormalize code (remove symbols)</a:t>
            </a:r>
          </a:p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Build context: file path + diff + metadata</a:t>
            </a:r>
          </a:p>
          <a:p>
            <a:pPr algn="l" marL="515414" indent="-257707" lvl="1">
              <a:lnSpc>
                <a:spcPts val="310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Optional tokenization for hints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618267" y="2635312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618267" y="5032126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618267" y="5236913"/>
            <a:ext cx="900317" cy="51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35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8584" y="5227388"/>
            <a:ext cx="7769416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30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Retrieval Corpus Processing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56938" y="5825720"/>
            <a:ext cx="7412611" cy="116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Clean &amp; normalize documents</a:t>
            </a:r>
          </a:p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Split into 200–400 token chunks</a:t>
            </a:r>
          </a:p>
          <a:p>
            <a:pPr algn="l" marL="515414" indent="-257707" lvl="1">
              <a:lnSpc>
                <a:spcPts val="310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Add metadata: category, source, chunk ID</a:t>
            </a:r>
          </a:p>
        </p:txBody>
      </p:sp>
      <p:sp>
        <p:nvSpPr>
          <p:cNvPr name="AutoShape 17" id="17"/>
          <p:cNvSpPr/>
          <p:nvPr/>
        </p:nvSpPr>
        <p:spPr>
          <a:xfrm>
            <a:off x="9618267" y="7190814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171582" y="5294436"/>
            <a:ext cx="5869557" cy="5449001"/>
            <a:chOff x="0" y="0"/>
            <a:chExt cx="909348" cy="8441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9348" cy="844193"/>
            </a:xfrm>
            <a:custGeom>
              <a:avLst/>
              <a:gdLst/>
              <a:ahLst/>
              <a:cxnLst/>
              <a:rect r="r" b="b" t="t" l="l"/>
              <a:pathLst>
                <a:path h="844193" w="909348">
                  <a:moveTo>
                    <a:pt x="77821" y="0"/>
                  </a:moveTo>
                  <a:lnTo>
                    <a:pt x="831527" y="0"/>
                  </a:lnTo>
                  <a:cubicBezTo>
                    <a:pt x="852167" y="0"/>
                    <a:pt x="871961" y="8199"/>
                    <a:pt x="886555" y="22793"/>
                  </a:cubicBezTo>
                  <a:cubicBezTo>
                    <a:pt x="901149" y="37387"/>
                    <a:pt x="909348" y="57181"/>
                    <a:pt x="909348" y="77821"/>
                  </a:cubicBezTo>
                  <a:lnTo>
                    <a:pt x="909348" y="766372"/>
                  </a:lnTo>
                  <a:cubicBezTo>
                    <a:pt x="909348" y="809351"/>
                    <a:pt x="874507" y="844193"/>
                    <a:pt x="831527" y="844193"/>
                  </a:cubicBezTo>
                  <a:lnTo>
                    <a:pt x="77821" y="844193"/>
                  </a:lnTo>
                  <a:cubicBezTo>
                    <a:pt x="57181" y="844193"/>
                    <a:pt x="37387" y="835994"/>
                    <a:pt x="22793" y="821400"/>
                  </a:cubicBezTo>
                  <a:cubicBezTo>
                    <a:pt x="8199" y="806805"/>
                    <a:pt x="0" y="787011"/>
                    <a:pt x="0" y="766372"/>
                  </a:cubicBezTo>
                  <a:lnTo>
                    <a:pt x="0" y="77821"/>
                  </a:lnTo>
                  <a:cubicBezTo>
                    <a:pt x="0" y="57181"/>
                    <a:pt x="8199" y="37387"/>
                    <a:pt x="22793" y="22793"/>
                  </a:cubicBezTo>
                  <a:cubicBezTo>
                    <a:pt x="37387" y="8199"/>
                    <a:pt x="57181" y="0"/>
                    <a:pt x="77821" y="0"/>
                  </a:cubicBezTo>
                  <a:close/>
                </a:path>
              </a:pathLst>
            </a:custGeom>
            <a:blipFill>
              <a:blip r:embed="rId2"/>
              <a:stretch>
                <a:fillRect l="-19626" t="0" r="-19626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18267" y="7357502"/>
            <a:ext cx="900317" cy="51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35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18584" y="7347977"/>
            <a:ext cx="7769416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30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Embedding Generation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56938" y="7946309"/>
            <a:ext cx="7412611" cy="156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Model: BGE-large (SentenceTransformers)</a:t>
            </a:r>
          </a:p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Co</a:t>
            </a: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nvert queries &amp; corpus → vectors</a:t>
            </a:r>
          </a:p>
          <a:p>
            <a:pPr algn="l" marL="515414" indent="-257707" lvl="1">
              <a:lnSpc>
                <a:spcPts val="310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Normalize embeddings for similarity search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565991"/>
            <a:ext cx="1414095" cy="1308560"/>
            <a:chOff x="0" y="0"/>
            <a:chExt cx="576559" cy="533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473458"/>
            <a:ext cx="1414095" cy="1308560"/>
            <a:chOff x="0" y="0"/>
            <a:chExt cx="576559" cy="533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7960" y="924729"/>
            <a:ext cx="5224881" cy="8037993"/>
            <a:chOff x="0" y="0"/>
            <a:chExt cx="809471" cy="1245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87423" y="0"/>
                  </a:moveTo>
                  <a:lnTo>
                    <a:pt x="722048" y="0"/>
                  </a:lnTo>
                  <a:cubicBezTo>
                    <a:pt x="770330" y="0"/>
                    <a:pt x="809471" y="39140"/>
                    <a:pt x="809471" y="87423"/>
                  </a:cubicBezTo>
                  <a:lnTo>
                    <a:pt x="809471" y="1157873"/>
                  </a:lnTo>
                  <a:cubicBezTo>
                    <a:pt x="809471" y="1181059"/>
                    <a:pt x="800260" y="1203295"/>
                    <a:pt x="783865" y="1219690"/>
                  </a:cubicBezTo>
                  <a:cubicBezTo>
                    <a:pt x="767470" y="1236085"/>
                    <a:pt x="745234" y="1245295"/>
                    <a:pt x="722048" y="1245295"/>
                  </a:cubicBezTo>
                  <a:lnTo>
                    <a:pt x="87423" y="1245295"/>
                  </a:lnTo>
                  <a:cubicBezTo>
                    <a:pt x="64237" y="1245295"/>
                    <a:pt x="42000" y="1236085"/>
                    <a:pt x="25606" y="1219690"/>
                  </a:cubicBezTo>
                  <a:cubicBezTo>
                    <a:pt x="9211" y="1203295"/>
                    <a:pt x="0" y="1181059"/>
                    <a:pt x="0" y="1157873"/>
                  </a:cubicBezTo>
                  <a:lnTo>
                    <a:pt x="0" y="87423"/>
                  </a:lnTo>
                  <a:cubicBezTo>
                    <a:pt x="0" y="64237"/>
                    <a:pt x="9211" y="42000"/>
                    <a:pt x="25606" y="25606"/>
                  </a:cubicBezTo>
                  <a:cubicBezTo>
                    <a:pt x="42000" y="9211"/>
                    <a:pt x="64237" y="0"/>
                    <a:pt x="87423" y="0"/>
                  </a:cubicBezTo>
                  <a:close/>
                </a:path>
              </a:pathLst>
            </a:custGeom>
            <a:blipFill>
              <a:blip r:embed="rId2"/>
              <a:stretch>
                <a:fillRect l="-12090" t="0" r="-1209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11521" y="2796045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439" y="4708779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48397" y="1256916"/>
            <a:ext cx="10813915" cy="59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66"/>
              </a:lnSpc>
              <a:spcBef>
                <a:spcPct val="0"/>
              </a:spcBef>
            </a:pPr>
            <a:r>
              <a:rPr lang="en-US" sz="3224" spc="241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Retrieval, Prompting &amp; Output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37228" y="2565991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FAISS I</a:t>
            </a: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ndexing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37228" y="4377556"/>
            <a:ext cx="8337607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Retrieval &amp; Context Formation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37228" y="4858416"/>
            <a:ext cx="6677308" cy="115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Query → embedding → FAISS search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Retrieve top relevant rules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Build structured context (text + metadata)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41016" y="3049551"/>
            <a:ext cx="7883497" cy="115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St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ore embed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dings for fast retrieval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Top-K similarity search (K=5)</a:t>
            </a:r>
          </a:p>
          <a:p>
            <a:pPr algn="l" marL="498232" indent="-24911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Retur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ns relevant guideline chunks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6382093"/>
            <a:ext cx="1414095" cy="1308560"/>
            <a:chOff x="0" y="0"/>
            <a:chExt cx="576559" cy="533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86726" y="6587351"/>
            <a:ext cx="898043" cy="898043"/>
          </a:xfrm>
          <a:custGeom>
            <a:avLst/>
            <a:gdLst/>
            <a:ahLst/>
            <a:cxnLst/>
            <a:rect r="r" b="b" t="t" l="l"/>
            <a:pathLst>
              <a:path h="898043" w="898043">
                <a:moveTo>
                  <a:pt x="0" y="0"/>
                </a:moveTo>
                <a:lnTo>
                  <a:pt x="898043" y="0"/>
                </a:lnTo>
                <a:lnTo>
                  <a:pt x="898043" y="898044"/>
                </a:lnTo>
                <a:lnTo>
                  <a:pt x="0" y="89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837228" y="6191183"/>
            <a:ext cx="8337607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Prompt Construction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37228" y="6672042"/>
            <a:ext cx="6677308" cy="191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Combine:</a:t>
            </a:r>
          </a:p>
          <a:p>
            <a:pPr algn="l" marL="996464" indent="-332155" lvl="2">
              <a:lnSpc>
                <a:spcPts val="3000"/>
              </a:lnSpc>
              <a:buFont typeface="Arial"/>
              <a:buChar char="⚬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PR diff</a:t>
            </a:r>
          </a:p>
          <a:p>
            <a:pPr algn="l" marL="996464" indent="-332155" lvl="2">
              <a:lnSpc>
                <a:spcPts val="3000"/>
              </a:lnSpc>
              <a:buFont typeface="Arial"/>
              <a:buChar char="⚬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Retrieved guidelines</a:t>
            </a:r>
          </a:p>
          <a:p>
            <a:pPr algn="l" marL="996464" indent="-332155" lvl="2">
              <a:lnSpc>
                <a:spcPts val="3000"/>
              </a:lnSpc>
              <a:buFont typeface="Arial"/>
              <a:buChar char="⚬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Instructions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Enforces structured JSON output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4934" y="8760392"/>
            <a:ext cx="2535341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Final Output: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30275" y="8760606"/>
            <a:ext cx="8532038" cy="77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Generates violation category and context-aware review comment based on retrieved guidelines.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52394" y="3560883"/>
            <a:ext cx="7579338" cy="3165235"/>
          </a:xfrm>
          <a:custGeom>
            <a:avLst/>
            <a:gdLst/>
            <a:ahLst/>
            <a:cxnLst/>
            <a:rect r="r" b="b" t="t" l="l"/>
            <a:pathLst>
              <a:path h="3165235" w="7579338">
                <a:moveTo>
                  <a:pt x="0" y="0"/>
                </a:moveTo>
                <a:lnTo>
                  <a:pt x="7579338" y="0"/>
                </a:lnTo>
                <a:lnTo>
                  <a:pt x="7579338" y="3165234"/>
                </a:lnTo>
                <a:lnTo>
                  <a:pt x="0" y="3165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10921" y="923925"/>
            <a:ext cx="7247811" cy="122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66"/>
              </a:lnSpc>
              <a:spcBef>
                <a:spcPct val="0"/>
              </a:spcBef>
            </a:pPr>
            <a:r>
              <a:rPr lang="en-US" sz="3224" spc="241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Model Architecture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89290" y="2570647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Approach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10921" y="3056907"/>
            <a:ext cx="7883497" cy="77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Ret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rieval-Augmente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 Generation (RAG-based system)</a:t>
            </a:r>
          </a:p>
          <a:p>
            <a:pPr algn="l" marL="498232" indent="-24911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ombines semantic r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etri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eval + LLM reasoning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89290" y="3980099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 U</a:t>
            </a: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185502" y="4499059"/>
            <a:ext cx="7883497" cy="77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ingle violation instance</a:t>
            </a:r>
          </a:p>
          <a:p>
            <a:pPr algn="l" marL="498232" indent="-24911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Include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s: diff ch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u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nk, file path, line number, PR metadata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89290" y="5393676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Pip</a:t>
            </a: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eline Stages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5502" y="5884061"/>
            <a:ext cx="7883497" cy="1913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Prepr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ocessing &amp; query construction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Embed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ding generation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FAISS-based retrieval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Pr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ompting + LLM genera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tion</a:t>
            </a:r>
          </a:p>
          <a:p>
            <a:pPr algn="l" marL="498232" indent="-24911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Grou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nding &amp; validation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1378" y="8226478"/>
            <a:ext cx="1942053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</a:t>
            </a: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ey Goal 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24072" y="8241346"/>
            <a:ext cx="7883497" cy="38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G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nerate accurate, explainabl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 review comments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88979" y="0"/>
            <a:ext cx="10137249" cy="10287000"/>
            <a:chOff x="0" y="0"/>
            <a:chExt cx="26698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98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9893">
                  <a:moveTo>
                    <a:pt x="43531" y="0"/>
                  </a:moveTo>
                  <a:lnTo>
                    <a:pt x="2626361" y="0"/>
                  </a:lnTo>
                  <a:cubicBezTo>
                    <a:pt x="2650403" y="0"/>
                    <a:pt x="2669893" y="19490"/>
                    <a:pt x="2669893" y="43531"/>
                  </a:cubicBezTo>
                  <a:lnTo>
                    <a:pt x="2669893" y="2665802"/>
                  </a:lnTo>
                  <a:cubicBezTo>
                    <a:pt x="2669893" y="2689844"/>
                    <a:pt x="2650403" y="2709333"/>
                    <a:pt x="2626361" y="2709333"/>
                  </a:cubicBezTo>
                  <a:lnTo>
                    <a:pt x="43531" y="2709333"/>
                  </a:lnTo>
                  <a:cubicBezTo>
                    <a:pt x="19490" y="2709333"/>
                    <a:pt x="0" y="2689844"/>
                    <a:pt x="0" y="2665802"/>
                  </a:cubicBezTo>
                  <a:lnTo>
                    <a:pt x="0" y="43531"/>
                  </a:lnTo>
                  <a:cubicBezTo>
                    <a:pt x="0" y="19490"/>
                    <a:pt x="19490" y="0"/>
                    <a:pt x="43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698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03451" y="529663"/>
            <a:ext cx="4605819" cy="141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Core Components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18267" y="1047750"/>
            <a:ext cx="900317" cy="51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35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07643" y="3392007"/>
            <a:ext cx="900317" cy="51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35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18584" y="1095375"/>
            <a:ext cx="5634473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30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Diff Processing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07960" y="3368315"/>
            <a:ext cx="7615038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30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Embedding &amp; Retrieval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56938" y="1681988"/>
            <a:ext cx="7476684" cy="1560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Extract diff chunks based on line numbers</a:t>
            </a:r>
          </a:p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Clean diff (remove symbols, preserve structure)</a:t>
            </a:r>
          </a:p>
          <a:p>
            <a:pPr algn="l" marL="515414" indent="-257707" lvl="1">
              <a:lnSpc>
                <a:spcPts val="310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Segment into 20–50 line chunks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09173" y="3880922"/>
            <a:ext cx="7315790" cy="116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Model: BAAI/bge-large-en-v1.5</a:t>
            </a:r>
          </a:p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Sentenc</a:t>
            </a: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eTransformers</a:t>
            </a:r>
          </a:p>
          <a:p>
            <a:pPr algn="l" marL="515414" indent="-257707" lvl="1">
              <a:lnSpc>
                <a:spcPts val="310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Dense</a:t>
            </a: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 vector embeddings (normalized)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509608" y="3300567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9670502" y="5169816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774971" y="5403178"/>
            <a:ext cx="900317" cy="51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35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75288" y="5393653"/>
            <a:ext cx="7769416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30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Prompt Construction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13643" y="5991985"/>
            <a:ext cx="7412611" cy="195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Combines:</a:t>
            </a:r>
          </a:p>
          <a:p>
            <a:pPr algn="l" marL="1030828" indent="-343609" lvl="2">
              <a:lnSpc>
                <a:spcPts val="3103"/>
              </a:lnSpc>
              <a:buFont typeface="Arial"/>
              <a:buChar char="⚬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PR diff</a:t>
            </a:r>
          </a:p>
          <a:p>
            <a:pPr algn="l" marL="1030828" indent="-343609" lvl="2">
              <a:lnSpc>
                <a:spcPts val="3103"/>
              </a:lnSpc>
              <a:buFont typeface="Arial"/>
              <a:buChar char="⚬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Retrieved guidelines</a:t>
            </a:r>
          </a:p>
          <a:p>
            <a:pPr algn="l" marL="1030828" indent="-343609" lvl="2">
              <a:lnSpc>
                <a:spcPts val="3103"/>
              </a:lnSpc>
              <a:buFont typeface="Arial"/>
              <a:buChar char="⚬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Metadata + instructions</a:t>
            </a:r>
          </a:p>
          <a:p>
            <a:pPr algn="l" marL="515414" indent="-257707" lvl="1">
              <a:lnSpc>
                <a:spcPts val="3103"/>
              </a:lnSpc>
              <a:spcBef>
                <a:spcPct val="0"/>
              </a:spcBef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Ensures structured JSON output</a:t>
            </a:r>
          </a:p>
        </p:txBody>
      </p:sp>
      <p:sp>
        <p:nvSpPr>
          <p:cNvPr name="AutoShape 17" id="17"/>
          <p:cNvSpPr/>
          <p:nvPr/>
        </p:nvSpPr>
        <p:spPr>
          <a:xfrm>
            <a:off x="9670502" y="8090504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171582" y="5294436"/>
            <a:ext cx="5869557" cy="5449001"/>
            <a:chOff x="0" y="0"/>
            <a:chExt cx="909348" cy="8441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09348" cy="844193"/>
            </a:xfrm>
            <a:custGeom>
              <a:avLst/>
              <a:gdLst/>
              <a:ahLst/>
              <a:cxnLst/>
              <a:rect r="r" b="b" t="t" l="l"/>
              <a:pathLst>
                <a:path h="844193" w="909348">
                  <a:moveTo>
                    <a:pt x="77821" y="0"/>
                  </a:moveTo>
                  <a:lnTo>
                    <a:pt x="831527" y="0"/>
                  </a:lnTo>
                  <a:cubicBezTo>
                    <a:pt x="852167" y="0"/>
                    <a:pt x="871961" y="8199"/>
                    <a:pt x="886555" y="22793"/>
                  </a:cubicBezTo>
                  <a:cubicBezTo>
                    <a:pt x="901149" y="37387"/>
                    <a:pt x="909348" y="57181"/>
                    <a:pt x="909348" y="77821"/>
                  </a:cubicBezTo>
                  <a:lnTo>
                    <a:pt x="909348" y="766372"/>
                  </a:lnTo>
                  <a:cubicBezTo>
                    <a:pt x="909348" y="809351"/>
                    <a:pt x="874507" y="844193"/>
                    <a:pt x="831527" y="844193"/>
                  </a:cubicBezTo>
                  <a:lnTo>
                    <a:pt x="77821" y="844193"/>
                  </a:lnTo>
                  <a:cubicBezTo>
                    <a:pt x="57181" y="844193"/>
                    <a:pt x="37387" y="835994"/>
                    <a:pt x="22793" y="821400"/>
                  </a:cubicBezTo>
                  <a:cubicBezTo>
                    <a:pt x="8199" y="806805"/>
                    <a:pt x="0" y="787011"/>
                    <a:pt x="0" y="766372"/>
                  </a:cubicBezTo>
                  <a:lnTo>
                    <a:pt x="0" y="77821"/>
                  </a:lnTo>
                  <a:cubicBezTo>
                    <a:pt x="0" y="57181"/>
                    <a:pt x="8199" y="37387"/>
                    <a:pt x="22793" y="22793"/>
                  </a:cubicBezTo>
                  <a:cubicBezTo>
                    <a:pt x="37387" y="8199"/>
                    <a:pt x="57181" y="0"/>
                    <a:pt x="77821" y="0"/>
                  </a:cubicBezTo>
                  <a:close/>
                </a:path>
              </a:pathLst>
            </a:custGeom>
            <a:blipFill>
              <a:blip r:embed="rId2"/>
              <a:stretch>
                <a:fillRect l="-19626" t="0" r="-19626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670502" y="8295292"/>
            <a:ext cx="900317" cy="51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1"/>
              </a:lnSpc>
            </a:pPr>
            <a:r>
              <a:rPr lang="en-US" sz="35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570819" y="8285767"/>
            <a:ext cx="7769416" cy="4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301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Generation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09173" y="8884099"/>
            <a:ext cx="7412611" cy="1169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5414" indent="-257707" lvl="1">
              <a:lnSpc>
                <a:spcPts val="3103"/>
              </a:lnSpc>
              <a:buFont typeface="Arial"/>
              <a:buChar char="•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Outputs:</a:t>
            </a:r>
          </a:p>
          <a:p>
            <a:pPr algn="l" marL="1030828" indent="-343609" lvl="2">
              <a:lnSpc>
                <a:spcPts val="3103"/>
              </a:lnSpc>
              <a:buFont typeface="Arial"/>
              <a:buChar char="⚬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Violation category</a:t>
            </a:r>
          </a:p>
          <a:p>
            <a:pPr algn="l" marL="1030828" indent="-343609" lvl="2">
              <a:lnSpc>
                <a:spcPts val="3103"/>
              </a:lnSpc>
              <a:spcBef>
                <a:spcPct val="0"/>
              </a:spcBef>
              <a:buFont typeface="Arial"/>
              <a:buChar char="⚬"/>
            </a:pP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Grou</a:t>
            </a:r>
            <a:r>
              <a:rPr lang="en-US" sz="2387" spc="18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nded review comment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045398"/>
            <a:ext cx="1414095" cy="1308560"/>
            <a:chOff x="0" y="0"/>
            <a:chExt cx="576559" cy="533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2718" y="3984579"/>
            <a:ext cx="1414095" cy="1308560"/>
            <a:chOff x="0" y="0"/>
            <a:chExt cx="576559" cy="533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383262" y="1036462"/>
            <a:ext cx="5224881" cy="8037993"/>
            <a:chOff x="0" y="0"/>
            <a:chExt cx="809471" cy="1245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87423" y="0"/>
                  </a:moveTo>
                  <a:lnTo>
                    <a:pt x="722048" y="0"/>
                  </a:lnTo>
                  <a:cubicBezTo>
                    <a:pt x="770330" y="0"/>
                    <a:pt x="809471" y="39140"/>
                    <a:pt x="809471" y="87423"/>
                  </a:cubicBezTo>
                  <a:lnTo>
                    <a:pt x="809471" y="1157873"/>
                  </a:lnTo>
                  <a:cubicBezTo>
                    <a:pt x="809471" y="1181059"/>
                    <a:pt x="800260" y="1203295"/>
                    <a:pt x="783865" y="1219690"/>
                  </a:cubicBezTo>
                  <a:cubicBezTo>
                    <a:pt x="767470" y="1236085"/>
                    <a:pt x="745234" y="1245295"/>
                    <a:pt x="722048" y="1245295"/>
                  </a:cubicBezTo>
                  <a:lnTo>
                    <a:pt x="87423" y="1245295"/>
                  </a:lnTo>
                  <a:cubicBezTo>
                    <a:pt x="64237" y="1245295"/>
                    <a:pt x="42000" y="1236085"/>
                    <a:pt x="25606" y="1219690"/>
                  </a:cubicBezTo>
                  <a:cubicBezTo>
                    <a:pt x="9211" y="1203295"/>
                    <a:pt x="0" y="1181059"/>
                    <a:pt x="0" y="1157873"/>
                  </a:cubicBezTo>
                  <a:lnTo>
                    <a:pt x="0" y="87423"/>
                  </a:lnTo>
                  <a:cubicBezTo>
                    <a:pt x="0" y="64237"/>
                    <a:pt x="9211" y="42000"/>
                    <a:pt x="25606" y="25606"/>
                  </a:cubicBezTo>
                  <a:cubicBezTo>
                    <a:pt x="42000" y="9211"/>
                    <a:pt x="64237" y="0"/>
                    <a:pt x="87423" y="0"/>
                  </a:cubicBezTo>
                  <a:close/>
                </a:path>
              </a:pathLst>
            </a:custGeom>
            <a:blipFill>
              <a:blip r:embed="rId2"/>
              <a:stretch>
                <a:fillRect l="-12090" t="0" r="-1209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11521" y="2275452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3"/>
                </a:lnTo>
                <a:lnTo>
                  <a:pt x="0" y="84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7457" y="4219899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5694372"/>
            <a:ext cx="1414095" cy="1308560"/>
            <a:chOff x="0" y="0"/>
            <a:chExt cx="576559" cy="5335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86726" y="5896701"/>
            <a:ext cx="898043" cy="898043"/>
          </a:xfrm>
          <a:custGeom>
            <a:avLst/>
            <a:gdLst/>
            <a:ahLst/>
            <a:cxnLst/>
            <a:rect r="r" b="b" t="t" l="l"/>
            <a:pathLst>
              <a:path h="898043" w="898043">
                <a:moveTo>
                  <a:pt x="0" y="0"/>
                </a:moveTo>
                <a:lnTo>
                  <a:pt x="898043" y="0"/>
                </a:lnTo>
                <a:lnTo>
                  <a:pt x="898043" y="898044"/>
                </a:lnTo>
                <a:lnTo>
                  <a:pt x="0" y="89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42928" y="931687"/>
            <a:ext cx="10017986" cy="59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66"/>
              </a:lnSpc>
              <a:spcBef>
                <a:spcPct val="0"/>
              </a:spcBef>
            </a:pPr>
            <a:r>
              <a:rPr lang="en-US" sz="3224" spc="241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Validation, Output &amp; Design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837228" y="2295019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Grounding &amp; Validation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60600" y="3984579"/>
            <a:ext cx="8337607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Static Analysis (Baseline)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69328" y="4460313"/>
            <a:ext cx="4682204" cy="1138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Tools</a:t>
            </a: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: Flake8, Pylint</a:t>
            </a:r>
          </a:p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Compare:</a:t>
            </a:r>
          </a:p>
          <a:p>
            <a:pPr algn="l" marL="993369" indent="-331123" lvl="2">
              <a:lnSpc>
                <a:spcPts val="2990"/>
              </a:lnSpc>
              <a:buFont typeface="Arial"/>
              <a:buChar char="⚬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R</a:t>
            </a: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ule-based vs LLM vs RAG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37228" y="2718728"/>
            <a:ext cx="7883497" cy="1151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Che</a:t>
            </a: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ck alignment with retrieved evidence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Detect hallucinations</a:t>
            </a:r>
          </a:p>
          <a:p>
            <a:pPr algn="l" marL="498232" indent="-249116" lvl="1">
              <a:lnSpc>
                <a:spcPts val="3000"/>
              </a:lnSpc>
              <a:spcBef>
                <a:spcPct val="0"/>
              </a:spcBef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Measure grounding quality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980157" y="5068351"/>
            <a:ext cx="5053671" cy="2280576"/>
          </a:xfrm>
          <a:custGeom>
            <a:avLst/>
            <a:gdLst/>
            <a:ahLst/>
            <a:cxnLst/>
            <a:rect r="r" b="b" t="t" l="l"/>
            <a:pathLst>
              <a:path h="2280576" w="5053671">
                <a:moveTo>
                  <a:pt x="0" y="0"/>
                </a:moveTo>
                <a:lnTo>
                  <a:pt x="5053671" y="0"/>
                </a:lnTo>
                <a:lnTo>
                  <a:pt x="5053671" y="2280577"/>
                </a:lnTo>
                <a:lnTo>
                  <a:pt x="0" y="228057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869328" y="5694372"/>
            <a:ext cx="630677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Final Output Format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53392" y="6165706"/>
            <a:ext cx="5699633" cy="758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Category + r</a:t>
            </a: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eview comment</a:t>
            </a:r>
          </a:p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Includes referenced guideline chunks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02718" y="7298207"/>
            <a:ext cx="1414095" cy="1308560"/>
            <a:chOff x="0" y="0"/>
            <a:chExt cx="576559" cy="5335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60744" y="7500536"/>
            <a:ext cx="898043" cy="898043"/>
          </a:xfrm>
          <a:custGeom>
            <a:avLst/>
            <a:gdLst/>
            <a:ahLst/>
            <a:cxnLst/>
            <a:rect r="r" b="b" t="t" l="l"/>
            <a:pathLst>
              <a:path h="898043" w="898043">
                <a:moveTo>
                  <a:pt x="0" y="0"/>
                </a:moveTo>
                <a:lnTo>
                  <a:pt x="898043" y="0"/>
                </a:lnTo>
                <a:lnTo>
                  <a:pt x="898043" y="898044"/>
                </a:lnTo>
                <a:lnTo>
                  <a:pt x="0" y="89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2869328" y="7146598"/>
            <a:ext cx="2733881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Limitations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753392" y="7624979"/>
            <a:ext cx="6348690" cy="151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Limited evaluation dataset size</a:t>
            </a:r>
          </a:p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Limited r</a:t>
            </a: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etrieval corpus coverage</a:t>
            </a:r>
          </a:p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Imbalance across violation categories</a:t>
            </a:r>
          </a:p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Depends on prompt design and LLM behavior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802216"/>
            <a:ext cx="1414095" cy="1308560"/>
            <a:chOff x="0" y="0"/>
            <a:chExt cx="576559" cy="5335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5143500"/>
            <a:ext cx="1414095" cy="1308560"/>
            <a:chOff x="0" y="0"/>
            <a:chExt cx="576559" cy="533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7960" y="924729"/>
            <a:ext cx="5224881" cy="8037993"/>
            <a:chOff x="0" y="0"/>
            <a:chExt cx="809471" cy="124529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9471" cy="1245295"/>
            </a:xfrm>
            <a:custGeom>
              <a:avLst/>
              <a:gdLst/>
              <a:ahLst/>
              <a:cxnLst/>
              <a:rect r="r" b="b" t="t" l="l"/>
              <a:pathLst>
                <a:path h="1245295" w="809471">
                  <a:moveTo>
                    <a:pt x="87423" y="0"/>
                  </a:moveTo>
                  <a:lnTo>
                    <a:pt x="722048" y="0"/>
                  </a:lnTo>
                  <a:cubicBezTo>
                    <a:pt x="770330" y="0"/>
                    <a:pt x="809471" y="39140"/>
                    <a:pt x="809471" y="87423"/>
                  </a:cubicBezTo>
                  <a:lnTo>
                    <a:pt x="809471" y="1157873"/>
                  </a:lnTo>
                  <a:cubicBezTo>
                    <a:pt x="809471" y="1181059"/>
                    <a:pt x="800260" y="1203295"/>
                    <a:pt x="783865" y="1219690"/>
                  </a:cubicBezTo>
                  <a:cubicBezTo>
                    <a:pt x="767470" y="1236085"/>
                    <a:pt x="745234" y="1245295"/>
                    <a:pt x="722048" y="1245295"/>
                  </a:cubicBezTo>
                  <a:lnTo>
                    <a:pt x="87423" y="1245295"/>
                  </a:lnTo>
                  <a:cubicBezTo>
                    <a:pt x="64237" y="1245295"/>
                    <a:pt x="42000" y="1236085"/>
                    <a:pt x="25606" y="1219690"/>
                  </a:cubicBezTo>
                  <a:cubicBezTo>
                    <a:pt x="9211" y="1203295"/>
                    <a:pt x="0" y="1181059"/>
                    <a:pt x="0" y="1157873"/>
                  </a:cubicBezTo>
                  <a:lnTo>
                    <a:pt x="0" y="87423"/>
                  </a:lnTo>
                  <a:cubicBezTo>
                    <a:pt x="0" y="64237"/>
                    <a:pt x="9211" y="42000"/>
                    <a:pt x="25606" y="25606"/>
                  </a:cubicBezTo>
                  <a:cubicBezTo>
                    <a:pt x="42000" y="9211"/>
                    <a:pt x="64237" y="0"/>
                    <a:pt x="87423" y="0"/>
                  </a:cubicBezTo>
                  <a:close/>
                </a:path>
              </a:pathLst>
            </a:custGeom>
            <a:blipFill>
              <a:blip r:embed="rId2"/>
              <a:stretch>
                <a:fillRect l="-12090" t="0" r="-1209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311521" y="3032269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3"/>
                </a:lnTo>
                <a:lnTo>
                  <a:pt x="0" y="84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53439" y="5378820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3"/>
                </a:lnTo>
                <a:lnTo>
                  <a:pt x="0" y="848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904875"/>
            <a:ext cx="10461842" cy="1410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  <a:spcBef>
                <a:spcPct val="0"/>
              </a:spcBef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Input &amp; Embedding Representation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37228" y="3051836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37228" y="5143500"/>
            <a:ext cx="8337607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Retrieval Corpus Representation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287264" y="5114925"/>
            <a:ext cx="2972357" cy="341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</a:p>
          <a:p>
            <a:pPr algn="l">
              <a:lnSpc>
                <a:spcPts val="2990"/>
              </a:lnSpc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{</a:t>
            </a:r>
          </a:p>
          <a:p>
            <a:pPr algn="l">
              <a:lnSpc>
                <a:spcPts val="2990"/>
              </a:lnSpc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 "chunk_id": "...",</a:t>
            </a:r>
          </a:p>
          <a:p>
            <a:pPr algn="l">
              <a:lnSpc>
                <a:spcPts val="2990"/>
              </a:lnSpc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 "text": "...",</a:t>
            </a:r>
          </a:p>
          <a:p>
            <a:pPr algn="l">
              <a:lnSpc>
                <a:spcPts val="2990"/>
              </a:lnSpc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 "category": "...",</a:t>
            </a:r>
          </a:p>
          <a:p>
            <a:pPr algn="l">
              <a:lnSpc>
                <a:spcPts val="2990"/>
              </a:lnSpc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 "source_type": "..."</a:t>
            </a:r>
          </a:p>
          <a:p>
            <a:pPr algn="l">
              <a:lnSpc>
                <a:spcPts val="2990"/>
              </a:lnSpc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}</a:t>
            </a:r>
          </a:p>
          <a:p>
            <a:pPr algn="l">
              <a:lnSpc>
                <a:spcPts val="2990"/>
              </a:lnSpc>
            </a:pPr>
          </a:p>
          <a:p>
            <a:pPr algn="l">
              <a:lnSpc>
                <a:spcPts val="299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837228" y="3236576"/>
            <a:ext cx="7883497" cy="229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Diff chunk 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File path</a:t>
            </a:r>
          </a:p>
          <a:p>
            <a:pPr algn="l" marL="498232" indent="-249116" lvl="1">
              <a:lnSpc>
                <a:spcPts val="3000"/>
              </a:lnSpc>
              <a:buFont typeface="Arial"/>
              <a:buChar char="•"/>
            </a:pPr>
            <a:r>
              <a:rPr lang="en-US" sz="2307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Repo metadata (repo, PR ID, line no.)</a:t>
            </a:r>
          </a:p>
          <a:p>
            <a:pPr algn="l">
              <a:lnSpc>
                <a:spcPts val="3000"/>
              </a:lnSpc>
            </a:pPr>
          </a:p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070618" y="7947485"/>
            <a:ext cx="1414095" cy="1308560"/>
            <a:chOff x="0" y="0"/>
            <a:chExt cx="576559" cy="53353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837228" y="7772879"/>
            <a:ext cx="630677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Embedding Representation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37228" y="7946634"/>
            <a:ext cx="5699633" cy="189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0"/>
              </a:lnSpc>
            </a:pPr>
          </a:p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Mo</a:t>
            </a: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del: BAAI/bge-large-en-v1.5</a:t>
            </a:r>
          </a:p>
          <a:p>
            <a:pPr algn="l" marL="496685" indent="-248342" lvl="1">
              <a:lnSpc>
                <a:spcPts val="2990"/>
              </a:lnSpc>
              <a:buFont typeface="Arial"/>
              <a:buChar char="•"/>
            </a:pP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V</a:t>
            </a:r>
            <a:r>
              <a:rPr lang="en-US" sz="2300" spc="-11">
                <a:solidFill>
                  <a:srgbClr val="343434"/>
                </a:solidFill>
                <a:latin typeface="HK Grotesk"/>
                <a:ea typeface="HK Grotesk"/>
                <a:cs typeface="HK Grotesk"/>
                <a:sym typeface="HK Grotesk"/>
              </a:rPr>
              <a:t>ector: 1024-dim, L2-normalized</a:t>
            </a:r>
          </a:p>
          <a:p>
            <a:pPr algn="l">
              <a:lnSpc>
                <a:spcPts val="2990"/>
              </a:lnSpc>
            </a:pPr>
          </a:p>
          <a:p>
            <a:pPr algn="l">
              <a:lnSpc>
                <a:spcPts val="2990"/>
              </a:lnSpc>
            </a:pP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11521" y="8152743"/>
            <a:ext cx="898043" cy="898043"/>
          </a:xfrm>
          <a:custGeom>
            <a:avLst/>
            <a:gdLst/>
            <a:ahLst/>
            <a:cxnLst/>
            <a:rect r="r" b="b" t="t" l="l"/>
            <a:pathLst>
              <a:path h="898043" w="898043">
                <a:moveTo>
                  <a:pt x="0" y="0"/>
                </a:moveTo>
                <a:lnTo>
                  <a:pt x="898044" y="0"/>
                </a:lnTo>
                <a:lnTo>
                  <a:pt x="898044" y="898044"/>
                </a:lnTo>
                <a:lnTo>
                  <a:pt x="0" y="8980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3030" y="5699374"/>
            <a:ext cx="5123985" cy="3558926"/>
            <a:chOff x="0" y="0"/>
            <a:chExt cx="2565683" cy="1782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5683" cy="1782027"/>
            </a:xfrm>
            <a:custGeom>
              <a:avLst/>
              <a:gdLst/>
              <a:ahLst/>
              <a:cxnLst/>
              <a:rect r="r" b="b" t="t" l="l"/>
              <a:pathLst>
                <a:path h="1782027" w="2565683">
                  <a:moveTo>
                    <a:pt x="43817" y="0"/>
                  </a:moveTo>
                  <a:lnTo>
                    <a:pt x="2521866" y="0"/>
                  </a:lnTo>
                  <a:cubicBezTo>
                    <a:pt x="2546066" y="0"/>
                    <a:pt x="2565683" y="19617"/>
                    <a:pt x="2565683" y="43817"/>
                  </a:cubicBezTo>
                  <a:lnTo>
                    <a:pt x="2565683" y="1738210"/>
                  </a:lnTo>
                  <a:cubicBezTo>
                    <a:pt x="2565683" y="1762409"/>
                    <a:pt x="2546066" y="1782027"/>
                    <a:pt x="2521866" y="1782027"/>
                  </a:cubicBezTo>
                  <a:lnTo>
                    <a:pt x="43817" y="1782027"/>
                  </a:lnTo>
                  <a:cubicBezTo>
                    <a:pt x="19617" y="1782027"/>
                    <a:pt x="0" y="1762409"/>
                    <a:pt x="0" y="1738210"/>
                  </a:cubicBezTo>
                  <a:lnTo>
                    <a:pt x="0" y="43817"/>
                  </a:lnTo>
                  <a:cubicBezTo>
                    <a:pt x="0" y="19617"/>
                    <a:pt x="19617" y="0"/>
                    <a:pt x="438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65683" cy="1839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72019" y="6093654"/>
            <a:ext cx="2917892" cy="2817092"/>
          </a:xfrm>
          <a:custGeom>
            <a:avLst/>
            <a:gdLst/>
            <a:ahLst/>
            <a:cxnLst/>
            <a:rect r="r" b="b" t="t" l="l"/>
            <a:pathLst>
              <a:path h="2817092" w="2917892">
                <a:moveTo>
                  <a:pt x="0" y="0"/>
                </a:moveTo>
                <a:lnTo>
                  <a:pt x="2917892" y="0"/>
                </a:lnTo>
                <a:lnTo>
                  <a:pt x="2917892" y="2817092"/>
                </a:lnTo>
                <a:lnTo>
                  <a:pt x="0" y="2817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03917" y="914400"/>
            <a:ext cx="11880165" cy="59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8"/>
              </a:lnSpc>
              <a:spcBef>
                <a:spcPct val="0"/>
              </a:spcBef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Retrieval &amp; Prompt Construction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49453" y="2598400"/>
            <a:ext cx="4351139" cy="2388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7704" indent="-263852" lvl="1">
              <a:lnSpc>
                <a:spcPts val="3177"/>
              </a:lnSpc>
              <a:spcBef>
                <a:spcPct val="0"/>
              </a:spcBef>
              <a:buFont typeface="Arial"/>
              <a:buChar char="•"/>
            </a:pPr>
            <a:r>
              <a:rPr lang="en-US" sz="2444" spc="-1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St</a:t>
            </a:r>
            <a:r>
              <a:rPr lang="en-US" sz="2444" spc="-1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ores corpus embeddings</a:t>
            </a:r>
          </a:p>
          <a:p>
            <a:pPr algn="l" marL="527704" indent="-263852" lvl="1">
              <a:lnSpc>
                <a:spcPts val="3177"/>
              </a:lnSpc>
              <a:spcBef>
                <a:spcPct val="0"/>
              </a:spcBef>
              <a:buFont typeface="Arial"/>
              <a:buChar char="•"/>
            </a:pPr>
            <a:r>
              <a:rPr lang="en-US" sz="2444" spc="-1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Input: query vector (1×1024)</a:t>
            </a:r>
          </a:p>
          <a:p>
            <a:pPr algn="l" marL="527704" indent="-263852" lvl="1">
              <a:lnSpc>
                <a:spcPts val="3177"/>
              </a:lnSpc>
              <a:spcBef>
                <a:spcPct val="0"/>
              </a:spcBef>
              <a:buFont typeface="Arial"/>
              <a:buChar char="•"/>
            </a:pPr>
            <a:r>
              <a:rPr lang="en-US" sz="2444" spc="-1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Output:</a:t>
            </a:r>
          </a:p>
          <a:p>
            <a:pPr algn="l" marL="1055408" indent="-351803" lvl="2">
              <a:lnSpc>
                <a:spcPts val="3177"/>
              </a:lnSpc>
              <a:spcBef>
                <a:spcPct val="0"/>
              </a:spcBef>
              <a:buFont typeface="Arial"/>
              <a:buChar char="⚬"/>
            </a:pPr>
            <a:r>
              <a:rPr lang="en-US" sz="2444" spc="-1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Top-K results (k=5)</a:t>
            </a:r>
          </a:p>
          <a:p>
            <a:pPr algn="l" marL="1055408" indent="-351803" lvl="2">
              <a:lnSpc>
                <a:spcPts val="3177"/>
              </a:lnSpc>
              <a:spcBef>
                <a:spcPct val="0"/>
              </a:spcBef>
              <a:buFont typeface="Arial"/>
              <a:buChar char="⚬"/>
            </a:pPr>
            <a:r>
              <a:rPr lang="en-US" sz="2444" spc="-12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Similarity scores</a:t>
            </a:r>
          </a:p>
          <a:p>
            <a:pPr algn="ctr">
              <a:lnSpc>
                <a:spcPts val="317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271141" y="2081538"/>
            <a:ext cx="5075873" cy="8390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[Instruction]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Context: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- repo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- file_path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- line_number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- category_hint (optional)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Diff: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&lt;diff_chunk&gt;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Retrieved Evidence: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- chunk_id, category, source, score, text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Output Format: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JSON with fields: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- category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- grounded_comment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- cited_chunk_ids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ctr">
              <a:lnSpc>
                <a:spcPts val="30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63030" y="1917308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FAISS Retrieval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06931" y="1917308"/>
            <a:ext cx="5940083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Prompt Structure (LLM Input)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81183" y="0"/>
            <a:ext cx="10137249" cy="10287000"/>
            <a:chOff x="0" y="0"/>
            <a:chExt cx="26698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6989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669893">
                  <a:moveTo>
                    <a:pt x="43531" y="0"/>
                  </a:moveTo>
                  <a:lnTo>
                    <a:pt x="2626361" y="0"/>
                  </a:lnTo>
                  <a:cubicBezTo>
                    <a:pt x="2650403" y="0"/>
                    <a:pt x="2669893" y="19490"/>
                    <a:pt x="2669893" y="43531"/>
                  </a:cubicBezTo>
                  <a:lnTo>
                    <a:pt x="2669893" y="2665802"/>
                  </a:lnTo>
                  <a:cubicBezTo>
                    <a:pt x="2669893" y="2689844"/>
                    <a:pt x="2650403" y="2709333"/>
                    <a:pt x="2626361" y="2709333"/>
                  </a:cubicBezTo>
                  <a:lnTo>
                    <a:pt x="43531" y="2709333"/>
                  </a:lnTo>
                  <a:cubicBezTo>
                    <a:pt x="19490" y="2709333"/>
                    <a:pt x="0" y="2689844"/>
                    <a:pt x="0" y="2665802"/>
                  </a:cubicBezTo>
                  <a:lnTo>
                    <a:pt x="0" y="43531"/>
                  </a:lnTo>
                  <a:cubicBezTo>
                    <a:pt x="0" y="19490"/>
                    <a:pt x="19490" y="0"/>
                    <a:pt x="435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701B74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669893" cy="2766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9537991" y="2446785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9537991" y="3735427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9537991" y="4990388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36653" y="4145130"/>
            <a:ext cx="5869557" cy="6415737"/>
            <a:chOff x="0" y="0"/>
            <a:chExt cx="909348" cy="9939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348" cy="993965"/>
            </a:xfrm>
            <a:custGeom>
              <a:avLst/>
              <a:gdLst/>
              <a:ahLst/>
              <a:cxnLst/>
              <a:rect r="r" b="b" t="t" l="l"/>
              <a:pathLst>
                <a:path h="993965" w="909348">
                  <a:moveTo>
                    <a:pt x="77821" y="0"/>
                  </a:moveTo>
                  <a:lnTo>
                    <a:pt x="831527" y="0"/>
                  </a:lnTo>
                  <a:cubicBezTo>
                    <a:pt x="852167" y="0"/>
                    <a:pt x="871961" y="8199"/>
                    <a:pt x="886555" y="22793"/>
                  </a:cubicBezTo>
                  <a:cubicBezTo>
                    <a:pt x="901149" y="37387"/>
                    <a:pt x="909348" y="57181"/>
                    <a:pt x="909348" y="77821"/>
                  </a:cubicBezTo>
                  <a:lnTo>
                    <a:pt x="909348" y="916145"/>
                  </a:lnTo>
                  <a:cubicBezTo>
                    <a:pt x="909348" y="959124"/>
                    <a:pt x="874507" y="993965"/>
                    <a:pt x="831527" y="993965"/>
                  </a:cubicBezTo>
                  <a:lnTo>
                    <a:pt x="77821" y="993965"/>
                  </a:lnTo>
                  <a:cubicBezTo>
                    <a:pt x="57181" y="993965"/>
                    <a:pt x="37387" y="985767"/>
                    <a:pt x="22793" y="971172"/>
                  </a:cubicBezTo>
                  <a:cubicBezTo>
                    <a:pt x="8199" y="956578"/>
                    <a:pt x="0" y="936784"/>
                    <a:pt x="0" y="916145"/>
                  </a:cubicBezTo>
                  <a:lnTo>
                    <a:pt x="0" y="77821"/>
                  </a:lnTo>
                  <a:cubicBezTo>
                    <a:pt x="0" y="57181"/>
                    <a:pt x="8199" y="37387"/>
                    <a:pt x="22793" y="22793"/>
                  </a:cubicBezTo>
                  <a:cubicBezTo>
                    <a:pt x="37387" y="8199"/>
                    <a:pt x="57181" y="0"/>
                    <a:pt x="77821" y="0"/>
                  </a:cubicBezTo>
                  <a:close/>
                </a:path>
              </a:pathLst>
            </a:custGeom>
            <a:blipFill>
              <a:blip r:embed="rId2"/>
              <a:stretch>
                <a:fillRect l="-55618" t="0" r="-8338" b="0"/>
              </a:stretch>
            </a:blipFill>
          </p:spPr>
        </p:sp>
      </p:grpSp>
      <p:sp>
        <p:nvSpPr>
          <p:cNvPr name="AutoShape 10" id="10"/>
          <p:cNvSpPr/>
          <p:nvPr/>
        </p:nvSpPr>
        <p:spPr>
          <a:xfrm>
            <a:off x="9537991" y="6312422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836653" y="1266825"/>
            <a:ext cx="7096966" cy="686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36"/>
              </a:lnSpc>
            </a:pPr>
            <a:r>
              <a:rPr lang="en-US" sz="3724" spc="27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END-END PIpeline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846268" y="1473904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5072" y="1277601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79611" y="1955559"/>
            <a:ext cx="7232115" cy="22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Generate structured query from PR diff (file path + diff chunk)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46268" y="2790542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5072" y="2678068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Embedding (BGE-large)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179611" y="3280222"/>
            <a:ext cx="7232115" cy="46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Convert query into 1024-dimensional L2-normalized vector</a:t>
            </a:r>
          </a:p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846268" y="4197390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5072" y="4001088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FAISS Retrieval (Top-K)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79611" y="4546787"/>
            <a:ext cx="7232115" cy="22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Retrieve Top-K = 5 most similar guideline chunks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846268" y="5338051"/>
            <a:ext cx="900317" cy="5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25072" y="5259496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Prompt Construction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179611" y="5868821"/>
            <a:ext cx="7232115" cy="22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Combine instruction, metadata, diff, and retrieved evidence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46268" y="6726760"/>
            <a:ext cx="900317" cy="50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25072" y="6593410"/>
            <a:ext cx="4528097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LLM Inference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79611" y="7145860"/>
            <a:ext cx="7232115" cy="229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Generate code review using structured prompt</a:t>
            </a:r>
          </a:p>
        </p:txBody>
      </p:sp>
      <p:sp>
        <p:nvSpPr>
          <p:cNvPr name="AutoShape 27" id="27"/>
          <p:cNvSpPr/>
          <p:nvPr/>
        </p:nvSpPr>
        <p:spPr>
          <a:xfrm>
            <a:off x="9537991" y="9004636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846268" y="8039529"/>
            <a:ext cx="900317" cy="503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8"/>
              </a:lnSpc>
            </a:pPr>
            <a:r>
              <a:rPr lang="en-US" sz="3467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06</a:t>
            </a:r>
          </a:p>
        </p:txBody>
      </p:sp>
      <p:sp>
        <p:nvSpPr>
          <p:cNvPr name="AutoShape 29" id="29"/>
          <p:cNvSpPr/>
          <p:nvPr/>
        </p:nvSpPr>
        <p:spPr>
          <a:xfrm>
            <a:off x="9296427" y="7770436"/>
            <a:ext cx="85153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0" id="30"/>
          <p:cNvSpPr txBox="true"/>
          <p:nvPr/>
        </p:nvSpPr>
        <p:spPr>
          <a:xfrm rot="0">
            <a:off x="9925072" y="7906179"/>
            <a:ext cx="7886710" cy="354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3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Structured Output (JSON) and Evaluation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79611" y="8460708"/>
            <a:ext cx="7632171" cy="467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9"/>
              </a:lnSpc>
            </a:pPr>
            <a:r>
              <a:rPr lang="en-US" sz="1445" spc="10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Produce category, grounded_comment, and cited_chunk_ids and Evaluate.</a:t>
            </a:r>
          </a:p>
          <a:p>
            <a:pPr algn="l" marL="0" indent="0" lvl="0">
              <a:lnSpc>
                <a:spcPts val="18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3030" y="5699374"/>
            <a:ext cx="5123985" cy="3558926"/>
            <a:chOff x="0" y="0"/>
            <a:chExt cx="2565683" cy="1782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65683" cy="1782027"/>
            </a:xfrm>
            <a:custGeom>
              <a:avLst/>
              <a:gdLst/>
              <a:ahLst/>
              <a:cxnLst/>
              <a:rect r="r" b="b" t="t" l="l"/>
              <a:pathLst>
                <a:path h="1782027" w="2565683">
                  <a:moveTo>
                    <a:pt x="43817" y="0"/>
                  </a:moveTo>
                  <a:lnTo>
                    <a:pt x="2521866" y="0"/>
                  </a:lnTo>
                  <a:cubicBezTo>
                    <a:pt x="2546066" y="0"/>
                    <a:pt x="2565683" y="19617"/>
                    <a:pt x="2565683" y="43817"/>
                  </a:cubicBezTo>
                  <a:lnTo>
                    <a:pt x="2565683" y="1738210"/>
                  </a:lnTo>
                  <a:cubicBezTo>
                    <a:pt x="2565683" y="1762409"/>
                    <a:pt x="2546066" y="1782027"/>
                    <a:pt x="2521866" y="1782027"/>
                  </a:cubicBezTo>
                  <a:lnTo>
                    <a:pt x="43817" y="1782027"/>
                  </a:lnTo>
                  <a:cubicBezTo>
                    <a:pt x="19617" y="1782027"/>
                    <a:pt x="0" y="1762409"/>
                    <a:pt x="0" y="1738210"/>
                  </a:cubicBezTo>
                  <a:lnTo>
                    <a:pt x="0" y="43817"/>
                  </a:lnTo>
                  <a:cubicBezTo>
                    <a:pt x="0" y="19617"/>
                    <a:pt x="19617" y="0"/>
                    <a:pt x="4381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65683" cy="18391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72019" y="6093654"/>
            <a:ext cx="2917892" cy="2817092"/>
          </a:xfrm>
          <a:custGeom>
            <a:avLst/>
            <a:gdLst/>
            <a:ahLst/>
            <a:cxnLst/>
            <a:rect r="r" b="b" t="t" l="l"/>
            <a:pathLst>
              <a:path h="2817092" w="2917892">
                <a:moveTo>
                  <a:pt x="0" y="0"/>
                </a:moveTo>
                <a:lnTo>
                  <a:pt x="2917892" y="0"/>
                </a:lnTo>
                <a:lnTo>
                  <a:pt x="2917892" y="2817092"/>
                </a:lnTo>
                <a:lnTo>
                  <a:pt x="0" y="28170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10388" y="914400"/>
            <a:ext cx="8067224" cy="59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8"/>
              </a:lnSpc>
              <a:spcBef>
                <a:spcPct val="0"/>
              </a:spcBef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OUTput representation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49453" y="2579350"/>
            <a:ext cx="4737562" cy="3045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3142" indent="-286571" lvl="1">
              <a:lnSpc>
                <a:spcPts val="3451"/>
              </a:lnSpc>
              <a:spcBef>
                <a:spcPct val="0"/>
              </a:spcBef>
              <a:buFont typeface="Arial"/>
              <a:buChar char="•"/>
            </a:pPr>
            <a:r>
              <a:rPr lang="en-US" sz="2654" spc="-1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sm</a:t>
            </a:r>
            <a:r>
              <a:rPr lang="en-US" sz="2654" spc="-1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oke_test_predictions.json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sz="2654" spc="-1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 -full predictions</a:t>
            </a:r>
          </a:p>
          <a:p>
            <a:pPr algn="l" marL="573142" indent="-286571" lvl="1">
              <a:lnSpc>
                <a:spcPts val="3451"/>
              </a:lnSpc>
              <a:spcBef>
                <a:spcPct val="0"/>
              </a:spcBef>
              <a:buFont typeface="Arial"/>
              <a:buChar char="•"/>
            </a:pPr>
            <a:r>
              <a:rPr lang="en-US" sz="2654" spc="-1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smoke_test_metrics.json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sz="2654" spc="-1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 -Evaluation metrics</a:t>
            </a:r>
          </a:p>
          <a:p>
            <a:pPr algn="l" marL="573142" indent="-286571" lvl="1">
              <a:lnSpc>
                <a:spcPts val="3451"/>
              </a:lnSpc>
              <a:spcBef>
                <a:spcPct val="0"/>
              </a:spcBef>
              <a:buFont typeface="Arial"/>
              <a:buChar char="•"/>
            </a:pPr>
            <a:r>
              <a:rPr lang="en-US" sz="2654" spc="-1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sm</a:t>
            </a:r>
            <a:r>
              <a:rPr lang="en-US" sz="2654" spc="-1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oke_test_examples.json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sz="2654" spc="-13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                 - Sample outputs</a:t>
            </a:r>
          </a:p>
          <a:p>
            <a:pPr algn="ctr">
              <a:lnSpc>
                <a:spcPts val="345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293280" y="2627928"/>
            <a:ext cx="6540174" cy="610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{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"p</a:t>
            </a: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r_id": "PR_4682",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"</a:t>
            </a: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repo": "pallets/flask",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"</a:t>
            </a: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file_path": "src/flask/globals.py",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"line_number": 73,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"gold_category": "naming_convention",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"groq_pre</a:t>
            </a: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dicted_category": "unused_import",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"groq_grounded_comment": "Remove the unused imports of `functools.partial` and `werkzeug.local.LocalStack` to keep the module clean.",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"groq_</a:t>
            </a: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cited_chunks": ["chunk_0600", "chunk_0571"]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sz="2307" spc="-11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}</a:t>
            </a: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  <a:p>
            <a:pPr algn="l">
              <a:lnSpc>
                <a:spcPts val="300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63030" y="1917308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Stored Files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06931" y="1917308"/>
            <a:ext cx="5940083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Sample Output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10388" y="914400"/>
            <a:ext cx="8067224" cy="59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8"/>
              </a:lnSpc>
              <a:spcBef>
                <a:spcPct val="0"/>
              </a:spcBef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Evaluation setup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10388" y="1510505"/>
            <a:ext cx="8067224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006090" y="1665210"/>
            <a:ext cx="9256781" cy="3892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One-vs-rest</a:t>
            </a: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classification per violation category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Prediction is correct if: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Line number matches (± tolerance)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Category matches ground truth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Outputs compared against ground truth: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True Positive (TP): Correct prediction of a violation category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False Positive (FP): Incorrect prediction of a category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False Negative (FN): Missed violation</a:t>
            </a:r>
          </a:p>
          <a:p>
            <a:pPr algn="l" marL="496575" indent="-248288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True Negative (TN): Correct rejection of non-category</a:t>
            </a:r>
          </a:p>
          <a:p>
            <a:pPr algn="l">
              <a:lnSpc>
                <a:spcPts val="2380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226561" y="1712835"/>
            <a:ext cx="1414095" cy="1308560"/>
            <a:chOff x="0" y="0"/>
            <a:chExt cx="576559" cy="5335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509382" y="1942888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3"/>
                </a:lnTo>
                <a:lnTo>
                  <a:pt x="0" y="84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26561" y="5821880"/>
            <a:ext cx="1414095" cy="1308560"/>
            <a:chOff x="0" y="0"/>
            <a:chExt cx="576559" cy="5335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51300" y="6057201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006090" y="5757784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Grounding Evaluation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58733" y="6428535"/>
            <a:ext cx="4236006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</a:t>
            </a: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on retrieved knowledge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Grounded if: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References guideline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Cites standard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Aligns with retrieved docs</a:t>
            </a:r>
          </a:p>
          <a:p>
            <a:pPr algn="l">
              <a:lnSpc>
                <a:spcPts val="3220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817201" y="5821880"/>
            <a:ext cx="1414095" cy="1308560"/>
            <a:chOff x="0" y="0"/>
            <a:chExt cx="576559" cy="5335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141941" y="6057201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2" y="0"/>
                </a:lnTo>
                <a:lnTo>
                  <a:pt x="848452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596730" y="5757784"/>
            <a:ext cx="4941292" cy="4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266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Latency Setup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49373" y="6428535"/>
            <a:ext cx="4287203" cy="3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Measure</a:t>
            </a: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per instance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Same hardware for all systems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RAG:</a:t>
            </a:r>
          </a:p>
          <a:p>
            <a:pPr algn="l" marL="993141" indent="-331047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Retrieval + Generation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LLM:</a:t>
            </a:r>
          </a:p>
          <a:p>
            <a:pPr algn="l" marL="993141" indent="-331047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Generation only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Static tools:</a:t>
            </a:r>
          </a:p>
          <a:p>
            <a:pPr algn="l" marL="993141" indent="-331047" lvl="2">
              <a:lnSpc>
                <a:spcPts val="3220"/>
              </a:lnSpc>
              <a:buFont typeface="Arial"/>
              <a:buChar char="⚬"/>
            </a:pPr>
            <a:r>
              <a:rPr lang="en-US" sz="23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Analysis runtime</a:t>
            </a:r>
          </a:p>
          <a:p>
            <a:pPr algn="l">
              <a:lnSpc>
                <a:spcPts val="3220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FFFFF">
                <a:alpha val="100000"/>
              </a:srgbClr>
            </a:gs>
            <a:gs pos="50000">
              <a:srgbClr val="FFFFFF">
                <a:alpha val="100000"/>
              </a:srgbClr>
            </a:gs>
            <a:gs pos="100000">
              <a:srgbClr val="FA8D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10388" y="914400"/>
            <a:ext cx="8067224" cy="596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8"/>
              </a:lnSpc>
              <a:spcBef>
                <a:spcPct val="0"/>
              </a:spcBef>
            </a:pPr>
            <a:r>
              <a:rPr lang="en-US" sz="3187" spc="239">
                <a:solidFill>
                  <a:srgbClr val="000000"/>
                </a:solidFill>
                <a:latin typeface="HK Modular"/>
                <a:ea typeface="HK Modular"/>
                <a:cs typeface="HK Modular"/>
                <a:sym typeface="HK Modular"/>
              </a:rPr>
              <a:t>Evaluation METRIcs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26561" y="2306417"/>
            <a:ext cx="1414095" cy="1308560"/>
            <a:chOff x="0" y="0"/>
            <a:chExt cx="576559" cy="5335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09382" y="2536471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6561" y="5128079"/>
            <a:ext cx="1414095" cy="1308560"/>
            <a:chOff x="0" y="0"/>
            <a:chExt cx="576559" cy="5335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51300" y="5363399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3"/>
                </a:lnTo>
                <a:lnTo>
                  <a:pt x="0" y="848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68479" y="7949740"/>
            <a:ext cx="1414095" cy="1308560"/>
            <a:chOff x="0" y="0"/>
            <a:chExt cx="576559" cy="53353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51300" y="8179794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3" y="0"/>
                </a:lnTo>
                <a:lnTo>
                  <a:pt x="848453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978343" y="3913647"/>
            <a:ext cx="1414095" cy="1308560"/>
            <a:chOff x="0" y="0"/>
            <a:chExt cx="576559" cy="5335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261165" y="4143701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2" y="0"/>
                </a:lnTo>
                <a:lnTo>
                  <a:pt x="848452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9936425" y="5934534"/>
            <a:ext cx="1414095" cy="1308560"/>
            <a:chOff x="0" y="0"/>
            <a:chExt cx="576559" cy="5335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6559" cy="533530"/>
            </a:xfrm>
            <a:custGeom>
              <a:avLst/>
              <a:gdLst/>
              <a:ahLst/>
              <a:cxnLst/>
              <a:rect r="r" b="b" t="t" l="l"/>
              <a:pathLst>
                <a:path h="533530" w="576559">
                  <a:moveTo>
                    <a:pt x="158770" y="0"/>
                  </a:moveTo>
                  <a:lnTo>
                    <a:pt x="417789" y="0"/>
                  </a:lnTo>
                  <a:cubicBezTo>
                    <a:pt x="505475" y="0"/>
                    <a:pt x="576559" y="71084"/>
                    <a:pt x="576559" y="158770"/>
                  </a:cubicBezTo>
                  <a:lnTo>
                    <a:pt x="576559" y="374760"/>
                  </a:lnTo>
                  <a:cubicBezTo>
                    <a:pt x="576559" y="462446"/>
                    <a:pt x="505475" y="533530"/>
                    <a:pt x="417789" y="533530"/>
                  </a:cubicBezTo>
                  <a:lnTo>
                    <a:pt x="158770" y="533530"/>
                  </a:lnTo>
                  <a:cubicBezTo>
                    <a:pt x="71084" y="533530"/>
                    <a:pt x="0" y="462446"/>
                    <a:pt x="0" y="374760"/>
                  </a:cubicBezTo>
                  <a:lnTo>
                    <a:pt x="0" y="158770"/>
                  </a:lnTo>
                  <a:cubicBezTo>
                    <a:pt x="0" y="71084"/>
                    <a:pt x="71084" y="0"/>
                    <a:pt x="15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0000">
                    <a:alpha val="100000"/>
                  </a:srgbClr>
                </a:gs>
                <a:gs pos="50000">
                  <a:srgbClr val="32032F">
                    <a:alpha val="100000"/>
                  </a:srgbClr>
                </a:gs>
                <a:gs pos="100000">
                  <a:srgbClr val="911896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76559" cy="5906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447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61165" y="6169855"/>
            <a:ext cx="848452" cy="848452"/>
          </a:xfrm>
          <a:custGeom>
            <a:avLst/>
            <a:gdLst/>
            <a:ahLst/>
            <a:cxnLst/>
            <a:rect r="r" b="b" t="t" l="l"/>
            <a:pathLst>
              <a:path h="848452" w="848452">
                <a:moveTo>
                  <a:pt x="0" y="0"/>
                </a:moveTo>
                <a:lnTo>
                  <a:pt x="848452" y="0"/>
                </a:lnTo>
                <a:lnTo>
                  <a:pt x="848452" y="848452"/>
                </a:lnTo>
                <a:lnTo>
                  <a:pt x="0" y="848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901705" y="2264059"/>
            <a:ext cx="7034720" cy="2781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2"/>
              </a:lnSpc>
            </a:pPr>
            <a:r>
              <a:rPr lang="en-US" sz="263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</a:t>
            </a:r>
            <a:r>
              <a:rPr lang="en-US" b="true" sz="26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assification Metrics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Precision = TP / (TP + FP)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Recall = TP / (TP + FN)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F1 Score = balance of precision &amp; recall</a:t>
            </a:r>
          </a:p>
          <a:p>
            <a:pPr algn="l" marL="567818" indent="-283909" lvl="1">
              <a:lnSpc>
                <a:spcPts val="3682"/>
              </a:lnSpc>
              <a:buFont typeface="Arial"/>
              <a:buChar char="•"/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Macro F1 → average across categories</a:t>
            </a:r>
          </a:p>
          <a:p>
            <a:pPr algn="l">
              <a:lnSpc>
                <a:spcPts val="3682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2901705" y="5114925"/>
            <a:ext cx="5224701" cy="17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3"/>
              </a:lnSpc>
              <a:spcBef>
                <a:spcPct val="0"/>
              </a:spcBef>
            </a:pPr>
            <a:r>
              <a:rPr lang="en-US" b="true" sz="2625" spc="-1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Semantic Alignment</a:t>
            </a:r>
          </a:p>
          <a:p>
            <a:pPr algn="l">
              <a:lnSpc>
                <a:spcPts val="3413"/>
              </a:lnSpc>
              <a:spcBef>
                <a:spcPct val="0"/>
              </a:spcBef>
            </a:pPr>
            <a:r>
              <a:rPr lang="en-US" b="true" sz="2625" spc="-1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</a:t>
            </a:r>
            <a:r>
              <a:rPr lang="en-US" sz="2625" spc="-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Compared with human reviews</a:t>
            </a:r>
          </a:p>
          <a:p>
            <a:pPr algn="l">
              <a:lnSpc>
                <a:spcPts val="3413"/>
              </a:lnSpc>
              <a:spcBef>
                <a:spcPct val="0"/>
              </a:spcBef>
            </a:pPr>
            <a:r>
              <a:rPr lang="en-US" sz="2625" spc="-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Metric: BERTScore (F1)</a:t>
            </a:r>
          </a:p>
          <a:p>
            <a:pPr algn="l">
              <a:lnSpc>
                <a:spcPts val="3413"/>
              </a:lnSpc>
              <a:spcBef>
                <a:spcPct val="0"/>
              </a:spcBef>
            </a:pPr>
            <a:r>
              <a:rPr lang="en-US" sz="2625" spc="-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Threshold: &gt; 0.85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607696" y="4057317"/>
            <a:ext cx="5467708" cy="74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b="true" sz="26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Grounding Rate</a:t>
            </a:r>
          </a:p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Grounding Rate = grounded / total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607696" y="6095484"/>
            <a:ext cx="6358652" cy="111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b="true" sz="26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Hallucination Rate</a:t>
            </a:r>
          </a:p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Incorrect or unsupported outputs</a:t>
            </a:r>
          </a:p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Hallucination Rate = hallucinated / total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25558" y="7968790"/>
            <a:ext cx="6221849" cy="1118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b="true" sz="263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Latency Metrics</a:t>
            </a:r>
          </a:p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Mean latency → average performance</a:t>
            </a:r>
          </a:p>
          <a:p>
            <a:pPr algn="l">
              <a:lnSpc>
                <a:spcPts val="2971"/>
              </a:lnSpc>
              <a:spcBef>
                <a:spcPct val="0"/>
              </a:spcBef>
            </a:pPr>
            <a:r>
              <a:rPr lang="en-US" sz="263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P95 latency → worst-case performance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DAHEaDvS88g</dc:identifier>
  <dcterms:modified xsi:type="dcterms:W3CDTF">2011-08-01T06:04:30Z</dcterms:modified>
  <cp:revision>1</cp:revision>
  <dc:title>Copy of Data Science and AI Lab Project</dc:title>
</cp:coreProperties>
</file>