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HK Modular" charset="1" panose="00000800000000000000"/>
      <p:regular r:id="rId20"/>
    </p:embeddedFont>
    <p:embeddedFont>
      <p:font typeface="HK Grotesk" charset="1" panose="00000500000000000000"/>
      <p:regular r:id="rId21"/>
    </p:embeddedFont>
    <p:embeddedFont>
      <p:font typeface="Archivo Black" charset="1" panose="020B0A03020202020B04"/>
      <p:regular r:id="rId22"/>
    </p:embeddedFont>
    <p:embeddedFont>
      <p:font typeface="Canva Sans" charset="1" panose="020B0503030501040103"/>
      <p:regular r:id="rId23"/>
    </p:embeddedFont>
    <p:embeddedFont>
      <p:font typeface="Mina" charset="1" panose="02000503000000000000"/>
      <p:regular r:id="rId24"/>
    </p:embeddedFont>
    <p:embeddedFont>
      <p:font typeface="Canva Sans Bold" charset="1" panose="020B08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50000">
              <a:srgbClr val="32032F">
                <a:alpha val="100000"/>
              </a:srgbClr>
            </a:gs>
            <a:gs pos="100000">
              <a:srgbClr val="701B7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1913" y="4437278"/>
            <a:ext cx="13042827" cy="192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2"/>
              </a:lnSpc>
              <a:spcBef>
                <a:spcPct val="0"/>
              </a:spcBef>
            </a:pPr>
            <a:r>
              <a:rPr lang="en-US" sz="6393" spc="47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RAG-BASED LLM CODE REVIEW AGENT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40118" y="6825698"/>
            <a:ext cx="8207765" cy="390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8"/>
              </a:lnSpc>
            </a:pPr>
            <a:r>
              <a:rPr lang="en-US" sz="2270" spc="88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MILESTONE 2</a:t>
            </a:r>
          </a:p>
        </p:txBody>
      </p:sp>
      <p:grpSp>
        <p:nvGrpSpPr>
          <p:cNvPr name="Group 4" id="4"/>
          <p:cNvGrpSpPr/>
          <p:nvPr/>
        </p:nvGrpSpPr>
        <p:grpSpPr>
          <a:xfrm rot="8635896">
            <a:off x="2372223" y="1114108"/>
            <a:ext cx="3623585" cy="263623"/>
            <a:chOff x="0" y="0"/>
            <a:chExt cx="952142" cy="692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142" cy="69270"/>
            </a:xfrm>
            <a:custGeom>
              <a:avLst/>
              <a:gdLst/>
              <a:ahLst/>
              <a:cxnLst/>
              <a:rect r="r" b="b" t="t" l="l"/>
              <a:pathLst>
                <a:path h="69270" w="952142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952142" cy="126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2464847">
            <a:off x="355729" y="8892451"/>
            <a:ext cx="3623585" cy="263623"/>
            <a:chOff x="0" y="0"/>
            <a:chExt cx="952142" cy="692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2142" cy="69270"/>
            </a:xfrm>
            <a:custGeom>
              <a:avLst/>
              <a:gdLst/>
              <a:ahLst/>
              <a:cxnLst/>
              <a:rect r="r" b="b" t="t" l="l"/>
              <a:pathLst>
                <a:path h="69270" w="952142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52142" cy="126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8635896">
            <a:off x="4084427" y="679668"/>
            <a:ext cx="3623585" cy="263623"/>
            <a:chOff x="0" y="0"/>
            <a:chExt cx="952142" cy="692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2142" cy="69270"/>
            </a:xfrm>
            <a:custGeom>
              <a:avLst/>
              <a:gdLst/>
              <a:ahLst/>
              <a:cxnLst/>
              <a:rect r="r" b="b" t="t" l="l"/>
              <a:pathLst>
                <a:path h="69270" w="952142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52142" cy="126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2464847">
            <a:off x="-1311970" y="9474826"/>
            <a:ext cx="3623585" cy="263623"/>
            <a:chOff x="0" y="0"/>
            <a:chExt cx="952142" cy="692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2142" cy="69270"/>
            </a:xfrm>
            <a:custGeom>
              <a:avLst/>
              <a:gdLst/>
              <a:ahLst/>
              <a:cxnLst/>
              <a:rect r="r" b="b" t="t" l="l"/>
              <a:pathLst>
                <a:path h="69270" w="952142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52142" cy="126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7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986967" y="875247"/>
            <a:ext cx="12314066" cy="76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51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</a:t>
            </a:r>
            <a:r>
              <a:rPr lang="en-US" sz="51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ata Science and AI Lab Project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40118" y="1826517"/>
            <a:ext cx="8207765" cy="5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7"/>
              </a:lnSpc>
              <a:spcBef>
                <a:spcPct val="0"/>
              </a:spcBef>
            </a:pPr>
            <a:r>
              <a:rPr lang="en-US" sz="37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GROUP 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6568" y="3307123"/>
            <a:ext cx="1414095" cy="1308560"/>
            <a:chOff x="0" y="0"/>
            <a:chExt cx="576559" cy="533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2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73766" y="1124504"/>
            <a:ext cx="5224881" cy="8037993"/>
            <a:chOff x="0" y="0"/>
            <a:chExt cx="809471" cy="12452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9471" cy="1245295"/>
            </a:xfrm>
            <a:custGeom>
              <a:avLst/>
              <a:gdLst/>
              <a:ahLst/>
              <a:cxnLst/>
              <a:rect r="r" b="b" t="t" l="l"/>
              <a:pathLst>
                <a:path h="1245295" w="809471">
                  <a:moveTo>
                    <a:pt x="87423" y="0"/>
                  </a:moveTo>
                  <a:lnTo>
                    <a:pt x="722048" y="0"/>
                  </a:lnTo>
                  <a:cubicBezTo>
                    <a:pt x="770330" y="0"/>
                    <a:pt x="809471" y="39140"/>
                    <a:pt x="809471" y="87423"/>
                  </a:cubicBezTo>
                  <a:lnTo>
                    <a:pt x="809471" y="1157873"/>
                  </a:lnTo>
                  <a:cubicBezTo>
                    <a:pt x="809471" y="1181059"/>
                    <a:pt x="800260" y="1203295"/>
                    <a:pt x="783865" y="1219690"/>
                  </a:cubicBezTo>
                  <a:cubicBezTo>
                    <a:pt x="767470" y="1236085"/>
                    <a:pt x="745234" y="1245295"/>
                    <a:pt x="722048" y="1245295"/>
                  </a:cubicBezTo>
                  <a:lnTo>
                    <a:pt x="87423" y="1245295"/>
                  </a:lnTo>
                  <a:cubicBezTo>
                    <a:pt x="64237" y="1245295"/>
                    <a:pt x="42000" y="1236085"/>
                    <a:pt x="25606" y="1219690"/>
                  </a:cubicBezTo>
                  <a:cubicBezTo>
                    <a:pt x="9211" y="1203295"/>
                    <a:pt x="0" y="1181059"/>
                    <a:pt x="0" y="1157873"/>
                  </a:cubicBezTo>
                  <a:lnTo>
                    <a:pt x="0" y="87423"/>
                  </a:lnTo>
                  <a:cubicBezTo>
                    <a:pt x="0" y="64237"/>
                    <a:pt x="9211" y="42000"/>
                    <a:pt x="25606" y="25606"/>
                  </a:cubicBezTo>
                  <a:cubicBezTo>
                    <a:pt x="42000" y="9211"/>
                    <a:pt x="64237" y="0"/>
                    <a:pt x="87423" y="0"/>
                  </a:cubicBezTo>
                  <a:close/>
                </a:path>
              </a:pathLst>
            </a:custGeom>
            <a:blipFill>
              <a:blip r:embed="rId2"/>
              <a:stretch>
                <a:fillRect l="-108115" t="0" r="-2264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762984"/>
            <a:ext cx="9864642" cy="68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6"/>
              </a:lnSpc>
              <a:spcBef>
                <a:spcPct val="0"/>
              </a:spcBef>
            </a:pPr>
            <a:r>
              <a:rPr lang="en-US" sz="3724" spc="27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Problem Statement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58430" y="3516218"/>
            <a:ext cx="890370" cy="890370"/>
          </a:xfrm>
          <a:custGeom>
            <a:avLst/>
            <a:gdLst/>
            <a:ahLst/>
            <a:cxnLst/>
            <a:rect r="r" b="b" t="t" l="l"/>
            <a:pathLst>
              <a:path h="890370" w="890370">
                <a:moveTo>
                  <a:pt x="0" y="0"/>
                </a:moveTo>
                <a:lnTo>
                  <a:pt x="890370" y="0"/>
                </a:lnTo>
                <a:lnTo>
                  <a:pt x="890370" y="890370"/>
                </a:lnTo>
                <a:lnTo>
                  <a:pt x="0" y="8903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89670" y="3326173"/>
            <a:ext cx="9035804" cy="257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</a:t>
            </a:r>
            <a:r>
              <a:rPr lang="en-US" sz="3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uild an automated Python code review assistant that analyzes pull request diffs.</a:t>
            </a:r>
          </a:p>
          <a:p>
            <a:pPr algn="just">
              <a:lnSpc>
                <a:spcPts val="3390"/>
              </a:lnSpc>
              <a:spcBef>
                <a:spcPct val="0"/>
              </a:spcBef>
            </a:pPr>
          </a:p>
          <a:p>
            <a:pPr algn="just">
              <a:lnSpc>
                <a:spcPts val="339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detects five categories of issues:</a:t>
            </a:r>
          </a:p>
          <a:p>
            <a:pPr algn="just">
              <a:lnSpc>
                <a:spcPts val="3390"/>
              </a:lnSpc>
              <a:spcBef>
                <a:spcPct val="0"/>
              </a:spcBef>
            </a:pPr>
          </a:p>
          <a:p>
            <a:pPr algn="just">
              <a:lnSpc>
                <a:spcPts val="339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792063" y="5204467"/>
            <a:ext cx="7024688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dentation inconsistencies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Naming convention violations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Unused imports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Mutable default arguments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Documentation / formatting issues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3408" y="1273472"/>
            <a:ext cx="6436179" cy="7899787"/>
            <a:chOff x="0" y="0"/>
            <a:chExt cx="2624176" cy="32209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4176" cy="3220922"/>
            </a:xfrm>
            <a:custGeom>
              <a:avLst/>
              <a:gdLst/>
              <a:ahLst/>
              <a:cxnLst/>
              <a:rect r="r" b="b" t="t" l="l"/>
              <a:pathLst>
                <a:path h="3220922" w="2624176">
                  <a:moveTo>
                    <a:pt x="34883" y="0"/>
                  </a:moveTo>
                  <a:lnTo>
                    <a:pt x="2589293" y="0"/>
                  </a:lnTo>
                  <a:cubicBezTo>
                    <a:pt x="2608558" y="0"/>
                    <a:pt x="2624176" y="15618"/>
                    <a:pt x="2624176" y="34883"/>
                  </a:cubicBezTo>
                  <a:lnTo>
                    <a:pt x="2624176" y="3186039"/>
                  </a:lnTo>
                  <a:cubicBezTo>
                    <a:pt x="2624176" y="3205304"/>
                    <a:pt x="2608558" y="3220922"/>
                    <a:pt x="2589293" y="3220922"/>
                  </a:cubicBezTo>
                  <a:lnTo>
                    <a:pt x="34883" y="3220922"/>
                  </a:lnTo>
                  <a:cubicBezTo>
                    <a:pt x="25632" y="3220922"/>
                    <a:pt x="16759" y="3217247"/>
                    <a:pt x="10217" y="3210705"/>
                  </a:cubicBezTo>
                  <a:cubicBezTo>
                    <a:pt x="3675" y="3204163"/>
                    <a:pt x="0" y="3195290"/>
                    <a:pt x="0" y="3186039"/>
                  </a:cubicBezTo>
                  <a:lnTo>
                    <a:pt x="0" y="34883"/>
                  </a:lnTo>
                  <a:cubicBezTo>
                    <a:pt x="0" y="15618"/>
                    <a:pt x="15618" y="0"/>
                    <a:pt x="348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624176" cy="3278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40481" y="3165965"/>
            <a:ext cx="4262034" cy="4114800"/>
          </a:xfrm>
          <a:custGeom>
            <a:avLst/>
            <a:gdLst/>
            <a:ahLst/>
            <a:cxnLst/>
            <a:rect r="r" b="b" t="t" l="l"/>
            <a:pathLst>
              <a:path h="4114800" w="4262034">
                <a:moveTo>
                  <a:pt x="0" y="0"/>
                </a:moveTo>
                <a:lnTo>
                  <a:pt x="4262034" y="0"/>
                </a:lnTo>
                <a:lnTo>
                  <a:pt x="42620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18287" y="1927761"/>
            <a:ext cx="8441013" cy="596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8"/>
              </a:lnSpc>
              <a:spcBef>
                <a:spcPct val="0"/>
              </a:spcBef>
            </a:pPr>
            <a:r>
              <a:rPr lang="en-US" sz="3187" spc="23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89587" y="3019742"/>
            <a:ext cx="10338740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dentifying reliable data sources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onstructing structured datasets from raw pull request diffs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nsuring dataset quality and consistency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reparing retrieval knowledge for the RAG architecture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reating evaluation datasets with ground-truth annotations</a:t>
            </a:r>
          </a:p>
          <a:p>
            <a:pPr algn="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1183" y="0"/>
            <a:ext cx="10137249" cy="10287000"/>
            <a:chOff x="0" y="0"/>
            <a:chExt cx="26698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989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69893">
                  <a:moveTo>
                    <a:pt x="43531" y="0"/>
                  </a:moveTo>
                  <a:lnTo>
                    <a:pt x="2626361" y="0"/>
                  </a:lnTo>
                  <a:cubicBezTo>
                    <a:pt x="2650403" y="0"/>
                    <a:pt x="2669893" y="19490"/>
                    <a:pt x="2669893" y="43531"/>
                  </a:cubicBezTo>
                  <a:lnTo>
                    <a:pt x="2669893" y="2665802"/>
                  </a:lnTo>
                  <a:cubicBezTo>
                    <a:pt x="2669893" y="2689844"/>
                    <a:pt x="2650403" y="2709333"/>
                    <a:pt x="2626361" y="2709333"/>
                  </a:cubicBezTo>
                  <a:lnTo>
                    <a:pt x="43531" y="2709333"/>
                  </a:lnTo>
                  <a:cubicBezTo>
                    <a:pt x="19490" y="2709333"/>
                    <a:pt x="0" y="2689844"/>
                    <a:pt x="0" y="2665802"/>
                  </a:cubicBezTo>
                  <a:lnTo>
                    <a:pt x="0" y="43531"/>
                  </a:lnTo>
                  <a:cubicBezTo>
                    <a:pt x="0" y="19490"/>
                    <a:pt x="19490" y="0"/>
                    <a:pt x="435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6698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9537991" y="2446785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537991" y="3735427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537991" y="4990388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36653" y="4145130"/>
            <a:ext cx="5869557" cy="6415737"/>
            <a:chOff x="0" y="0"/>
            <a:chExt cx="909348" cy="9939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9348" cy="993965"/>
            </a:xfrm>
            <a:custGeom>
              <a:avLst/>
              <a:gdLst/>
              <a:ahLst/>
              <a:cxnLst/>
              <a:rect r="r" b="b" t="t" l="l"/>
              <a:pathLst>
                <a:path h="993965" w="909348">
                  <a:moveTo>
                    <a:pt x="77821" y="0"/>
                  </a:moveTo>
                  <a:lnTo>
                    <a:pt x="831527" y="0"/>
                  </a:lnTo>
                  <a:cubicBezTo>
                    <a:pt x="852167" y="0"/>
                    <a:pt x="871961" y="8199"/>
                    <a:pt x="886555" y="22793"/>
                  </a:cubicBezTo>
                  <a:cubicBezTo>
                    <a:pt x="901149" y="37387"/>
                    <a:pt x="909348" y="57181"/>
                    <a:pt x="909348" y="77821"/>
                  </a:cubicBezTo>
                  <a:lnTo>
                    <a:pt x="909348" y="916145"/>
                  </a:lnTo>
                  <a:cubicBezTo>
                    <a:pt x="909348" y="959124"/>
                    <a:pt x="874507" y="993965"/>
                    <a:pt x="831527" y="993965"/>
                  </a:cubicBezTo>
                  <a:lnTo>
                    <a:pt x="77821" y="993965"/>
                  </a:lnTo>
                  <a:cubicBezTo>
                    <a:pt x="57181" y="993965"/>
                    <a:pt x="37387" y="985767"/>
                    <a:pt x="22793" y="971172"/>
                  </a:cubicBezTo>
                  <a:cubicBezTo>
                    <a:pt x="8199" y="956578"/>
                    <a:pt x="0" y="936784"/>
                    <a:pt x="0" y="916145"/>
                  </a:cubicBezTo>
                  <a:lnTo>
                    <a:pt x="0" y="77821"/>
                  </a:lnTo>
                  <a:cubicBezTo>
                    <a:pt x="0" y="57181"/>
                    <a:pt x="8199" y="37387"/>
                    <a:pt x="22793" y="22793"/>
                  </a:cubicBezTo>
                  <a:cubicBezTo>
                    <a:pt x="37387" y="8199"/>
                    <a:pt x="57181" y="0"/>
                    <a:pt x="77821" y="0"/>
                  </a:cubicBezTo>
                  <a:close/>
                </a:path>
              </a:pathLst>
            </a:custGeom>
            <a:blipFill>
              <a:blip r:embed="rId2"/>
              <a:stretch>
                <a:fillRect l="-55618" t="0" r="-8338" b="0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9537991" y="6312422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836653" y="904875"/>
            <a:ext cx="7096966" cy="1410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6"/>
              </a:lnSpc>
            </a:pPr>
            <a:r>
              <a:rPr lang="en-US" sz="3724" spc="27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Data PREPARATION Pipeline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46268" y="1473904"/>
            <a:ext cx="900317" cy="50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5072" y="1277601"/>
            <a:ext cx="4528097" cy="35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Extraction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79611" y="1955559"/>
            <a:ext cx="7232115" cy="22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9"/>
              </a:lnSpc>
              <a:spcBef>
                <a:spcPct val="0"/>
              </a:spcBef>
            </a:pPr>
            <a:r>
              <a:rPr lang="en-US" sz="1445" spc="10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Pull request diffs collected from GitHub repositories.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46268" y="2790542"/>
            <a:ext cx="900317" cy="50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5072" y="2678068"/>
            <a:ext cx="4528097" cy="35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Diff Processing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79611" y="3280222"/>
            <a:ext cx="7232115" cy="705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9"/>
              </a:lnSpc>
              <a:spcBef>
                <a:spcPct val="0"/>
              </a:spcBef>
            </a:pPr>
            <a:r>
              <a:rPr lang="en-US" sz="1445" spc="10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Parse diff files into structured code chunks.</a:t>
            </a:r>
          </a:p>
          <a:p>
            <a:pPr algn="l" marL="0" indent="0" lvl="0">
              <a:lnSpc>
                <a:spcPts val="187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187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846268" y="4197390"/>
            <a:ext cx="900317" cy="50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5072" y="4001088"/>
            <a:ext cx="4528097" cy="35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Cleaning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79611" y="4546787"/>
            <a:ext cx="7232115" cy="22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9"/>
              </a:lnSpc>
              <a:spcBef>
                <a:spcPct val="0"/>
              </a:spcBef>
            </a:pPr>
            <a:r>
              <a:rPr lang="en-US" sz="1445" spc="10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Normalize formatting and remove duplicate entries.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46268" y="5338051"/>
            <a:ext cx="900317" cy="50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5072" y="5259496"/>
            <a:ext cx="4528097" cy="35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Violation Labeling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79611" y="5868821"/>
            <a:ext cx="7232115" cy="22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9"/>
              </a:lnSpc>
              <a:spcBef>
                <a:spcPct val="0"/>
              </a:spcBef>
            </a:pPr>
            <a:r>
              <a:rPr lang="en-US" sz="1445" spc="10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Assign coding rule categories to review comments.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46268" y="6726760"/>
            <a:ext cx="900317" cy="50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25072" y="6593410"/>
            <a:ext cx="4528097" cy="35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 Splitting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79611" y="7145860"/>
            <a:ext cx="7232115" cy="22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9"/>
              </a:lnSpc>
              <a:spcBef>
                <a:spcPct val="0"/>
              </a:spcBef>
            </a:pPr>
            <a:r>
              <a:rPr lang="en-US" sz="1445" spc="10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Separate datasets into Retrieval Corpus and Evaluation Dataset.</a:t>
            </a:r>
          </a:p>
        </p:txBody>
      </p:sp>
      <p:sp>
        <p:nvSpPr>
          <p:cNvPr name="AutoShape 27" id="27"/>
          <p:cNvSpPr/>
          <p:nvPr/>
        </p:nvSpPr>
        <p:spPr>
          <a:xfrm>
            <a:off x="9537991" y="9004636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8846268" y="8039529"/>
            <a:ext cx="900317" cy="50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06</a:t>
            </a:r>
          </a:p>
        </p:txBody>
      </p:sp>
      <p:sp>
        <p:nvSpPr>
          <p:cNvPr name="AutoShape 29" id="29"/>
          <p:cNvSpPr/>
          <p:nvPr/>
        </p:nvSpPr>
        <p:spPr>
          <a:xfrm>
            <a:off x="9537991" y="7691867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9925072" y="7906179"/>
            <a:ext cx="4528097" cy="35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Knowledge Chunking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79611" y="8460708"/>
            <a:ext cx="7232115" cy="22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9"/>
              </a:lnSpc>
              <a:spcBef>
                <a:spcPct val="0"/>
              </a:spcBef>
            </a:pPr>
            <a:r>
              <a:rPr lang="en-US" sz="1445" spc="10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Split guidelines and documents into retrieval units.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635166"/>
            <a:ext cx="1414095" cy="1308560"/>
            <a:chOff x="0" y="0"/>
            <a:chExt cx="576559" cy="533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452089"/>
            <a:ext cx="1414095" cy="1308560"/>
            <a:chOff x="0" y="0"/>
            <a:chExt cx="576559" cy="533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7960" y="924729"/>
            <a:ext cx="5224881" cy="8037993"/>
            <a:chOff x="0" y="0"/>
            <a:chExt cx="809471" cy="12452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9471" cy="1245295"/>
            </a:xfrm>
            <a:custGeom>
              <a:avLst/>
              <a:gdLst/>
              <a:ahLst/>
              <a:cxnLst/>
              <a:rect r="r" b="b" t="t" l="l"/>
              <a:pathLst>
                <a:path h="1245295" w="809471">
                  <a:moveTo>
                    <a:pt x="87423" y="0"/>
                  </a:moveTo>
                  <a:lnTo>
                    <a:pt x="722048" y="0"/>
                  </a:lnTo>
                  <a:cubicBezTo>
                    <a:pt x="770330" y="0"/>
                    <a:pt x="809471" y="39140"/>
                    <a:pt x="809471" y="87423"/>
                  </a:cubicBezTo>
                  <a:lnTo>
                    <a:pt x="809471" y="1157873"/>
                  </a:lnTo>
                  <a:cubicBezTo>
                    <a:pt x="809471" y="1181059"/>
                    <a:pt x="800260" y="1203295"/>
                    <a:pt x="783865" y="1219690"/>
                  </a:cubicBezTo>
                  <a:cubicBezTo>
                    <a:pt x="767470" y="1236085"/>
                    <a:pt x="745234" y="1245295"/>
                    <a:pt x="722048" y="1245295"/>
                  </a:cubicBezTo>
                  <a:lnTo>
                    <a:pt x="87423" y="1245295"/>
                  </a:lnTo>
                  <a:cubicBezTo>
                    <a:pt x="64237" y="1245295"/>
                    <a:pt x="42000" y="1236085"/>
                    <a:pt x="25606" y="1219690"/>
                  </a:cubicBezTo>
                  <a:cubicBezTo>
                    <a:pt x="9211" y="1203295"/>
                    <a:pt x="0" y="1181059"/>
                    <a:pt x="0" y="1157873"/>
                  </a:cubicBezTo>
                  <a:lnTo>
                    <a:pt x="0" y="87423"/>
                  </a:lnTo>
                  <a:cubicBezTo>
                    <a:pt x="0" y="64237"/>
                    <a:pt x="9211" y="42000"/>
                    <a:pt x="25606" y="25606"/>
                  </a:cubicBezTo>
                  <a:cubicBezTo>
                    <a:pt x="42000" y="9211"/>
                    <a:pt x="64237" y="0"/>
                    <a:pt x="87423" y="0"/>
                  </a:cubicBezTo>
                  <a:close/>
                </a:path>
              </a:pathLst>
            </a:custGeom>
            <a:blipFill>
              <a:blip r:embed="rId2"/>
              <a:stretch>
                <a:fillRect l="-12090" t="0" r="-1209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11521" y="3865220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2"/>
                </a:lnTo>
                <a:lnTo>
                  <a:pt x="0" y="848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3439" y="6687409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3"/>
                </a:lnTo>
                <a:lnTo>
                  <a:pt x="0" y="848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812184"/>
            <a:ext cx="10533613" cy="68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6"/>
              </a:lnSpc>
              <a:spcBef>
                <a:spcPct val="0"/>
              </a:spcBef>
            </a:pPr>
            <a:r>
              <a:rPr lang="en-US" sz="3724" spc="27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GIhub repository </a:t>
            </a:r>
            <a:r>
              <a:rPr lang="en-US" b="true" sz="3724" spc="279" strike="noStrike" u="none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Sources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37228" y="3460560"/>
            <a:ext cx="4658266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Repositories Used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37228" y="6490380"/>
            <a:ext cx="8337607" cy="78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These repositories were selected because they: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91338" y="7344508"/>
            <a:ext cx="6677308" cy="191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Are actively maintained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Contain large numbers of pull requests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Have meaningful review discussions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Follow Python style guidelines</a:t>
            </a:r>
          </a:p>
          <a:p>
            <a:pPr algn="l">
              <a:lnSpc>
                <a:spcPts val="30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291338" y="3583894"/>
            <a:ext cx="6677308" cy="2675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django/django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pandas-dev/pandas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scikit-learn/scikit-learn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pallets/flask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fastapi/fastapi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88979" y="0"/>
            <a:ext cx="10137249" cy="10287000"/>
            <a:chOff x="0" y="0"/>
            <a:chExt cx="26698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989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69893">
                  <a:moveTo>
                    <a:pt x="43531" y="0"/>
                  </a:moveTo>
                  <a:lnTo>
                    <a:pt x="2626361" y="0"/>
                  </a:lnTo>
                  <a:cubicBezTo>
                    <a:pt x="2650403" y="0"/>
                    <a:pt x="2669893" y="19490"/>
                    <a:pt x="2669893" y="43531"/>
                  </a:cubicBezTo>
                  <a:lnTo>
                    <a:pt x="2669893" y="2665802"/>
                  </a:lnTo>
                  <a:cubicBezTo>
                    <a:pt x="2669893" y="2689844"/>
                    <a:pt x="2650403" y="2709333"/>
                    <a:pt x="2626361" y="2709333"/>
                  </a:cubicBezTo>
                  <a:lnTo>
                    <a:pt x="43531" y="2709333"/>
                  </a:lnTo>
                  <a:cubicBezTo>
                    <a:pt x="19490" y="2709333"/>
                    <a:pt x="0" y="2689844"/>
                    <a:pt x="0" y="2665802"/>
                  </a:cubicBezTo>
                  <a:lnTo>
                    <a:pt x="0" y="43531"/>
                  </a:lnTo>
                  <a:cubicBezTo>
                    <a:pt x="0" y="19490"/>
                    <a:pt x="19490" y="0"/>
                    <a:pt x="435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6698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71582" y="2174098"/>
            <a:ext cx="7016423" cy="1410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6"/>
              </a:lnSpc>
            </a:pPr>
            <a:r>
              <a:rPr lang="en-US" sz="3724" spc="27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Dataset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18267" y="1057275"/>
            <a:ext cx="900317" cy="67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4"/>
              </a:lnSpc>
            </a:pPr>
            <a:r>
              <a:rPr lang="en-US" sz="46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18267" y="3854168"/>
            <a:ext cx="900317" cy="67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4"/>
              </a:lnSpc>
            </a:pPr>
            <a:r>
              <a:rPr lang="en-US" sz="46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18584" y="1104900"/>
            <a:ext cx="5634473" cy="52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8"/>
              </a:lnSpc>
            </a:pPr>
            <a:r>
              <a:rPr lang="en-US" sz="361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Evaluation 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18584" y="3901793"/>
            <a:ext cx="4528097" cy="52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8"/>
              </a:lnSpc>
            </a:pPr>
            <a:r>
              <a:rPr lang="en-US" sz="361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Retrieval Corpus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32293" y="1745172"/>
            <a:ext cx="5927007" cy="432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3"/>
              </a:lnSpc>
              <a:spcBef>
                <a:spcPct val="0"/>
              </a:spcBef>
            </a:pPr>
            <a:r>
              <a:rPr lang="en-US" sz="2687" spc="204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Evaluate model predictions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32293" y="4127426"/>
            <a:ext cx="5927007" cy="130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3"/>
              </a:lnSpc>
            </a:pPr>
          </a:p>
          <a:p>
            <a:pPr algn="l">
              <a:lnSpc>
                <a:spcPts val="3493"/>
              </a:lnSpc>
            </a:pPr>
            <a:r>
              <a:rPr lang="en-US" sz="2687" spc="204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Kn</a:t>
            </a:r>
            <a:r>
              <a:rPr lang="en-US" sz="2687" spc="204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owledge base for RAG</a:t>
            </a:r>
          </a:p>
          <a:p>
            <a:pPr algn="l" marL="0" indent="0" lvl="0">
              <a:lnSpc>
                <a:spcPts val="3493"/>
              </a:lnSpc>
              <a:spcBef>
                <a:spcPct val="0"/>
              </a:spcBef>
            </a:pPr>
          </a:p>
        </p:txBody>
      </p:sp>
      <p:sp>
        <p:nvSpPr>
          <p:cNvPr name="AutoShape 12" id="12"/>
          <p:cNvSpPr/>
          <p:nvPr/>
        </p:nvSpPr>
        <p:spPr>
          <a:xfrm>
            <a:off x="9618267" y="3230281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618267" y="6027174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9618267" y="6651062"/>
            <a:ext cx="900317" cy="67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4"/>
              </a:lnSpc>
            </a:pPr>
            <a:r>
              <a:rPr lang="en-US" sz="46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18584" y="6698687"/>
            <a:ext cx="6226255" cy="52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8"/>
              </a:lnSpc>
            </a:pPr>
            <a:r>
              <a:rPr lang="en-US" sz="361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Static Analysis Input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32293" y="7340453"/>
            <a:ext cx="5927007" cy="432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3"/>
              </a:lnSpc>
              <a:spcBef>
                <a:spcPct val="0"/>
              </a:spcBef>
            </a:pPr>
            <a:r>
              <a:rPr lang="en-US" sz="2687" spc="204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Baseline linter evaluation</a:t>
            </a:r>
          </a:p>
        </p:txBody>
      </p:sp>
      <p:sp>
        <p:nvSpPr>
          <p:cNvPr name="AutoShape 17" id="17"/>
          <p:cNvSpPr/>
          <p:nvPr/>
        </p:nvSpPr>
        <p:spPr>
          <a:xfrm>
            <a:off x="9618267" y="8824067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171582" y="5294436"/>
            <a:ext cx="5869557" cy="5449001"/>
            <a:chOff x="0" y="0"/>
            <a:chExt cx="909348" cy="8441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9348" cy="844193"/>
            </a:xfrm>
            <a:custGeom>
              <a:avLst/>
              <a:gdLst/>
              <a:ahLst/>
              <a:cxnLst/>
              <a:rect r="r" b="b" t="t" l="l"/>
              <a:pathLst>
                <a:path h="844193" w="909348">
                  <a:moveTo>
                    <a:pt x="77821" y="0"/>
                  </a:moveTo>
                  <a:lnTo>
                    <a:pt x="831527" y="0"/>
                  </a:lnTo>
                  <a:cubicBezTo>
                    <a:pt x="852167" y="0"/>
                    <a:pt x="871961" y="8199"/>
                    <a:pt x="886555" y="22793"/>
                  </a:cubicBezTo>
                  <a:cubicBezTo>
                    <a:pt x="901149" y="37387"/>
                    <a:pt x="909348" y="57181"/>
                    <a:pt x="909348" y="77821"/>
                  </a:cubicBezTo>
                  <a:lnTo>
                    <a:pt x="909348" y="766372"/>
                  </a:lnTo>
                  <a:cubicBezTo>
                    <a:pt x="909348" y="809351"/>
                    <a:pt x="874507" y="844193"/>
                    <a:pt x="831527" y="844193"/>
                  </a:cubicBezTo>
                  <a:lnTo>
                    <a:pt x="77821" y="844193"/>
                  </a:lnTo>
                  <a:cubicBezTo>
                    <a:pt x="57181" y="844193"/>
                    <a:pt x="37387" y="835994"/>
                    <a:pt x="22793" y="821400"/>
                  </a:cubicBezTo>
                  <a:cubicBezTo>
                    <a:pt x="8199" y="806805"/>
                    <a:pt x="0" y="787011"/>
                    <a:pt x="0" y="766372"/>
                  </a:cubicBezTo>
                  <a:lnTo>
                    <a:pt x="0" y="77821"/>
                  </a:lnTo>
                  <a:cubicBezTo>
                    <a:pt x="0" y="57181"/>
                    <a:pt x="8199" y="37387"/>
                    <a:pt x="22793" y="22793"/>
                  </a:cubicBezTo>
                  <a:cubicBezTo>
                    <a:pt x="37387" y="8199"/>
                    <a:pt x="57181" y="0"/>
                    <a:pt x="77821" y="0"/>
                  </a:cubicBezTo>
                  <a:close/>
                </a:path>
              </a:pathLst>
            </a:custGeom>
            <a:blipFill>
              <a:blip r:embed="rId2"/>
              <a:stretch>
                <a:fillRect l="-19626" t="0" r="-19626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906138"/>
            <a:ext cx="1414095" cy="1308560"/>
            <a:chOff x="0" y="0"/>
            <a:chExt cx="576559" cy="533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723061"/>
            <a:ext cx="1414095" cy="1308560"/>
            <a:chOff x="0" y="0"/>
            <a:chExt cx="576559" cy="533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7960" y="924729"/>
            <a:ext cx="5224881" cy="8037993"/>
            <a:chOff x="0" y="0"/>
            <a:chExt cx="809471" cy="12452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9471" cy="1245295"/>
            </a:xfrm>
            <a:custGeom>
              <a:avLst/>
              <a:gdLst/>
              <a:ahLst/>
              <a:cxnLst/>
              <a:rect r="r" b="b" t="t" l="l"/>
              <a:pathLst>
                <a:path h="1245295" w="809471">
                  <a:moveTo>
                    <a:pt x="87423" y="0"/>
                  </a:moveTo>
                  <a:lnTo>
                    <a:pt x="722048" y="0"/>
                  </a:lnTo>
                  <a:cubicBezTo>
                    <a:pt x="770330" y="0"/>
                    <a:pt x="809471" y="39140"/>
                    <a:pt x="809471" y="87423"/>
                  </a:cubicBezTo>
                  <a:lnTo>
                    <a:pt x="809471" y="1157873"/>
                  </a:lnTo>
                  <a:cubicBezTo>
                    <a:pt x="809471" y="1181059"/>
                    <a:pt x="800260" y="1203295"/>
                    <a:pt x="783865" y="1219690"/>
                  </a:cubicBezTo>
                  <a:cubicBezTo>
                    <a:pt x="767470" y="1236085"/>
                    <a:pt x="745234" y="1245295"/>
                    <a:pt x="722048" y="1245295"/>
                  </a:cubicBezTo>
                  <a:lnTo>
                    <a:pt x="87423" y="1245295"/>
                  </a:lnTo>
                  <a:cubicBezTo>
                    <a:pt x="64237" y="1245295"/>
                    <a:pt x="42000" y="1236085"/>
                    <a:pt x="25606" y="1219690"/>
                  </a:cubicBezTo>
                  <a:cubicBezTo>
                    <a:pt x="9211" y="1203295"/>
                    <a:pt x="0" y="1181059"/>
                    <a:pt x="0" y="1157873"/>
                  </a:cubicBezTo>
                  <a:lnTo>
                    <a:pt x="0" y="87423"/>
                  </a:lnTo>
                  <a:cubicBezTo>
                    <a:pt x="0" y="64237"/>
                    <a:pt x="9211" y="42000"/>
                    <a:pt x="25606" y="25606"/>
                  </a:cubicBezTo>
                  <a:cubicBezTo>
                    <a:pt x="42000" y="9211"/>
                    <a:pt x="64237" y="0"/>
                    <a:pt x="87423" y="0"/>
                  </a:cubicBezTo>
                  <a:close/>
                </a:path>
              </a:pathLst>
            </a:custGeom>
            <a:blipFill>
              <a:blip r:embed="rId2"/>
              <a:stretch>
                <a:fillRect l="-12090" t="0" r="-1209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11521" y="4136192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2"/>
                </a:lnTo>
                <a:lnTo>
                  <a:pt x="0" y="848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3439" y="6958382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2"/>
                </a:lnTo>
                <a:lnTo>
                  <a:pt x="0" y="8484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812184"/>
            <a:ext cx="10533613" cy="68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6"/>
              </a:lnSpc>
              <a:spcBef>
                <a:spcPct val="0"/>
              </a:spcBef>
            </a:pPr>
            <a:r>
              <a:rPr lang="en-US" sz="3724" spc="27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Dataset Split Strategy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37228" y="3322808"/>
            <a:ext cx="4941292" cy="78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</a:p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Tr</a:t>
            </a: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</a:t>
            </a: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ining Repositories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37228" y="6565246"/>
            <a:ext cx="8337607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Evaluation Repositories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37228" y="7093731"/>
            <a:ext cx="6677308" cy="2294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Used only for model evaluation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pallets/flask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fastapi/fastapi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837228" y="4238752"/>
            <a:ext cx="7883497" cy="191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sed for bu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ilding the Retrieval Corpus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dj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ango/django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pandas-dev/pandas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scikit-learn/scikit-learn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613094"/>
            <a:ext cx="1053361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prevent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leakage in the retrieval system, datasets were separated at the repository level.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81431"/>
            <a:ext cx="12870895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Source: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GitHub pull requests</a:t>
            </a:r>
          </a:p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Contains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Pull request diffs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Diff chunks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Line numbers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Ground truth review comments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Violation categories</a:t>
            </a:r>
          </a:p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Evaluate model predictions against human reviewer feedback.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107568" y="1645673"/>
            <a:ext cx="5131805" cy="5711202"/>
          </a:xfrm>
          <a:custGeom>
            <a:avLst/>
            <a:gdLst/>
            <a:ahLst/>
            <a:cxnLst/>
            <a:rect r="r" b="b" t="t" l="l"/>
            <a:pathLst>
              <a:path h="5711202" w="5131805">
                <a:moveTo>
                  <a:pt x="0" y="0"/>
                </a:moveTo>
                <a:lnTo>
                  <a:pt x="5131806" y="0"/>
                </a:lnTo>
                <a:lnTo>
                  <a:pt x="5131806" y="5711202"/>
                </a:lnTo>
                <a:lnTo>
                  <a:pt x="0" y="5711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12184"/>
            <a:ext cx="9864642" cy="68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6"/>
              </a:lnSpc>
              <a:spcBef>
                <a:spcPct val="0"/>
              </a:spcBef>
            </a:pPr>
            <a:r>
              <a:rPr lang="en-US" sz="3724" spc="27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Evaluation Dataset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635166"/>
            <a:ext cx="1414095" cy="1308560"/>
            <a:chOff x="0" y="0"/>
            <a:chExt cx="576559" cy="533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452089"/>
            <a:ext cx="1414095" cy="1308560"/>
            <a:chOff x="0" y="0"/>
            <a:chExt cx="576559" cy="533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7960" y="924729"/>
            <a:ext cx="5224881" cy="8037993"/>
            <a:chOff x="0" y="0"/>
            <a:chExt cx="809471" cy="12452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9471" cy="1245295"/>
            </a:xfrm>
            <a:custGeom>
              <a:avLst/>
              <a:gdLst/>
              <a:ahLst/>
              <a:cxnLst/>
              <a:rect r="r" b="b" t="t" l="l"/>
              <a:pathLst>
                <a:path h="1245295" w="809471">
                  <a:moveTo>
                    <a:pt x="87423" y="0"/>
                  </a:moveTo>
                  <a:lnTo>
                    <a:pt x="722048" y="0"/>
                  </a:lnTo>
                  <a:cubicBezTo>
                    <a:pt x="770330" y="0"/>
                    <a:pt x="809471" y="39140"/>
                    <a:pt x="809471" y="87423"/>
                  </a:cubicBezTo>
                  <a:lnTo>
                    <a:pt x="809471" y="1157873"/>
                  </a:lnTo>
                  <a:cubicBezTo>
                    <a:pt x="809471" y="1181059"/>
                    <a:pt x="800260" y="1203295"/>
                    <a:pt x="783865" y="1219690"/>
                  </a:cubicBezTo>
                  <a:cubicBezTo>
                    <a:pt x="767470" y="1236085"/>
                    <a:pt x="745234" y="1245295"/>
                    <a:pt x="722048" y="1245295"/>
                  </a:cubicBezTo>
                  <a:lnTo>
                    <a:pt x="87423" y="1245295"/>
                  </a:lnTo>
                  <a:cubicBezTo>
                    <a:pt x="64237" y="1245295"/>
                    <a:pt x="42000" y="1236085"/>
                    <a:pt x="25606" y="1219690"/>
                  </a:cubicBezTo>
                  <a:cubicBezTo>
                    <a:pt x="9211" y="1203295"/>
                    <a:pt x="0" y="1181059"/>
                    <a:pt x="0" y="1157873"/>
                  </a:cubicBezTo>
                  <a:lnTo>
                    <a:pt x="0" y="87423"/>
                  </a:lnTo>
                  <a:cubicBezTo>
                    <a:pt x="0" y="64237"/>
                    <a:pt x="9211" y="42000"/>
                    <a:pt x="25606" y="25606"/>
                  </a:cubicBezTo>
                  <a:cubicBezTo>
                    <a:pt x="42000" y="9211"/>
                    <a:pt x="64237" y="0"/>
                    <a:pt x="87423" y="0"/>
                  </a:cubicBezTo>
                  <a:close/>
                </a:path>
              </a:pathLst>
            </a:custGeom>
            <a:blipFill>
              <a:blip r:embed="rId2"/>
              <a:stretch>
                <a:fillRect l="-12090" t="0" r="-1209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11521" y="3865220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2"/>
                </a:lnTo>
                <a:lnTo>
                  <a:pt x="0" y="848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3439" y="6687409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3"/>
                </a:lnTo>
                <a:lnTo>
                  <a:pt x="0" y="848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812184"/>
            <a:ext cx="10533613" cy="68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6"/>
              </a:lnSpc>
              <a:spcBef>
                <a:spcPct val="0"/>
              </a:spcBef>
            </a:pPr>
            <a:r>
              <a:rPr lang="en-US" sz="3724" spc="27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GITHUB data collection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37228" y="3051836"/>
            <a:ext cx="4941292" cy="116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</a:p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Coll</a:t>
            </a: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ection Strategy</a:t>
            </a:r>
          </a:p>
          <a:p>
            <a:pPr algn="l">
              <a:lnSpc>
                <a:spcPts val="300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837228" y="6490380"/>
            <a:ext cx="8337607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Raw Dataset Size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64283" y="7073535"/>
            <a:ext cx="6677308" cy="191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25,000 review comments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98 pull request file change sets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Collected from 5 Python repositories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064283" y="3630617"/>
            <a:ext cx="7883497" cy="305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Systematic API 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pagination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1-second delay between requests to respect rate limits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Automatic retry after 403 responses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ll responses cached locally (cache/ directory) for reproducibility</a:t>
            </a:r>
          </a:p>
          <a:p>
            <a:pPr algn="l">
              <a:lnSpc>
                <a:spcPts val="3000"/>
              </a:lnSpc>
            </a:pP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1183" y="0"/>
            <a:ext cx="10137249" cy="10287000"/>
            <a:chOff x="0" y="0"/>
            <a:chExt cx="26698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989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69893">
                  <a:moveTo>
                    <a:pt x="43531" y="0"/>
                  </a:moveTo>
                  <a:lnTo>
                    <a:pt x="2626361" y="0"/>
                  </a:lnTo>
                  <a:cubicBezTo>
                    <a:pt x="2650403" y="0"/>
                    <a:pt x="2669893" y="19490"/>
                    <a:pt x="2669893" y="43531"/>
                  </a:cubicBezTo>
                  <a:lnTo>
                    <a:pt x="2669893" y="2665802"/>
                  </a:lnTo>
                  <a:cubicBezTo>
                    <a:pt x="2669893" y="2689844"/>
                    <a:pt x="2650403" y="2709333"/>
                    <a:pt x="2626361" y="2709333"/>
                  </a:cubicBezTo>
                  <a:lnTo>
                    <a:pt x="43531" y="2709333"/>
                  </a:lnTo>
                  <a:cubicBezTo>
                    <a:pt x="19490" y="2709333"/>
                    <a:pt x="0" y="2689844"/>
                    <a:pt x="0" y="2665802"/>
                  </a:cubicBezTo>
                  <a:lnTo>
                    <a:pt x="0" y="43531"/>
                  </a:lnTo>
                  <a:cubicBezTo>
                    <a:pt x="0" y="19490"/>
                    <a:pt x="19490" y="0"/>
                    <a:pt x="435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6698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36653" y="4145130"/>
            <a:ext cx="5869557" cy="6415737"/>
            <a:chOff x="0" y="0"/>
            <a:chExt cx="909348" cy="993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348" cy="993965"/>
            </a:xfrm>
            <a:custGeom>
              <a:avLst/>
              <a:gdLst/>
              <a:ahLst/>
              <a:cxnLst/>
              <a:rect r="r" b="b" t="t" l="l"/>
              <a:pathLst>
                <a:path h="993965" w="909348">
                  <a:moveTo>
                    <a:pt x="77821" y="0"/>
                  </a:moveTo>
                  <a:lnTo>
                    <a:pt x="831527" y="0"/>
                  </a:lnTo>
                  <a:cubicBezTo>
                    <a:pt x="852167" y="0"/>
                    <a:pt x="871961" y="8199"/>
                    <a:pt x="886555" y="22793"/>
                  </a:cubicBezTo>
                  <a:cubicBezTo>
                    <a:pt x="901149" y="37387"/>
                    <a:pt x="909348" y="57181"/>
                    <a:pt x="909348" y="77821"/>
                  </a:cubicBezTo>
                  <a:lnTo>
                    <a:pt x="909348" y="916145"/>
                  </a:lnTo>
                  <a:cubicBezTo>
                    <a:pt x="909348" y="959124"/>
                    <a:pt x="874507" y="993965"/>
                    <a:pt x="831527" y="993965"/>
                  </a:cubicBezTo>
                  <a:lnTo>
                    <a:pt x="77821" y="993965"/>
                  </a:lnTo>
                  <a:cubicBezTo>
                    <a:pt x="57181" y="993965"/>
                    <a:pt x="37387" y="985767"/>
                    <a:pt x="22793" y="971172"/>
                  </a:cubicBezTo>
                  <a:cubicBezTo>
                    <a:pt x="8199" y="956578"/>
                    <a:pt x="0" y="936784"/>
                    <a:pt x="0" y="916145"/>
                  </a:cubicBezTo>
                  <a:lnTo>
                    <a:pt x="0" y="77821"/>
                  </a:lnTo>
                  <a:cubicBezTo>
                    <a:pt x="0" y="57181"/>
                    <a:pt x="8199" y="37387"/>
                    <a:pt x="22793" y="22793"/>
                  </a:cubicBezTo>
                  <a:cubicBezTo>
                    <a:pt x="37387" y="8199"/>
                    <a:pt x="57181" y="0"/>
                    <a:pt x="77821" y="0"/>
                  </a:cubicBezTo>
                  <a:close/>
                </a:path>
              </a:pathLst>
            </a:custGeom>
            <a:blipFill>
              <a:blip r:embed="rId2"/>
              <a:stretch>
                <a:fillRect l="-55618" t="0" r="-8338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36653" y="542925"/>
            <a:ext cx="7096966" cy="213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6"/>
              </a:lnSpc>
            </a:pPr>
            <a:r>
              <a:rPr lang="en-US" sz="3724" spc="27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Data Cleaning &amp; Filtering Strategy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83100" y="981075"/>
            <a:ext cx="8533415" cy="935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57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Raw Comment Filtering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Only comments related to .py files were retained</a:t>
            </a:r>
          </a:p>
          <a:p>
            <a:pPr algn="l">
              <a:lnSpc>
                <a:spcPts val="3599"/>
              </a:lnSpc>
            </a:pPr>
            <a:r>
              <a:rPr lang="en-US" sz="257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Bot Exclusion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Automated bot-generated comments removed</a:t>
            </a:r>
          </a:p>
          <a:p>
            <a:pPr algn="l">
              <a:lnSpc>
                <a:spcPts val="3599"/>
              </a:lnSpc>
            </a:pPr>
            <a:r>
              <a:rPr lang="en-US" sz="257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Minimum Length Filter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Skip comments if, len(comment.body.strip()) &lt; 15</a:t>
            </a:r>
          </a:p>
          <a:p>
            <a:pPr algn="l">
              <a:lnSpc>
                <a:spcPts val="3599"/>
              </a:lnSpc>
            </a:pPr>
            <a:r>
              <a:rPr lang="en-US" sz="257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Text Tokenization Repair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Applied 16 regex-based repairs to normalize text</a:t>
            </a:r>
          </a:p>
          <a:p>
            <a:pPr algn="l">
              <a:lnSpc>
                <a:spcPts val="3599"/>
              </a:lnSpc>
            </a:pPr>
            <a:r>
              <a:rPr lang="en-US" sz="257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Deduplication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Removed duplicate review comments</a:t>
            </a:r>
          </a:p>
          <a:p>
            <a:pPr algn="l">
              <a:lnSpc>
                <a:spcPts val="3599"/>
              </a:lnSpc>
            </a:pPr>
            <a:r>
              <a:rPr lang="en-US" sz="257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 Noise Removal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Stripped @@ diff hunk headers</a:t>
            </a:r>
          </a:p>
          <a:p>
            <a:pPr algn="l">
              <a:lnSpc>
                <a:spcPts val="3599"/>
              </a:lnSpc>
            </a:pPr>
            <a:r>
              <a:rPr lang="en-US" sz="257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Origin Tagging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Each comment tagged with its repository source</a:t>
            </a:r>
          </a:p>
          <a:p>
            <a:pPr algn="l">
              <a:lnSpc>
                <a:spcPts val="3599"/>
              </a:lnSpc>
            </a:pPr>
            <a:r>
              <a:rPr lang="en-US" sz="257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Ground Truth Cross-Validation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Verified violation annotations</a:t>
            </a:r>
          </a:p>
          <a:p>
            <a:pPr algn="l">
              <a:lnSpc>
                <a:spcPts val="3599"/>
              </a:lnSpc>
            </a:pPr>
            <a:r>
              <a:rPr lang="en-US" sz="257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Stratified Sampling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Balanced samples across violation categories</a:t>
            </a:r>
          </a:p>
          <a:p>
            <a:pPr algn="l">
              <a:lnSpc>
                <a:spcPts val="3599"/>
              </a:lnSpc>
            </a:pPr>
            <a:r>
              <a:rPr lang="en-US" sz="257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LLM Response Validation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Verified classification responses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1363" y="2494163"/>
            <a:ext cx="5366427" cy="3692083"/>
            <a:chOff x="0" y="0"/>
            <a:chExt cx="2624176" cy="1805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4176" cy="1805424"/>
            </a:xfrm>
            <a:custGeom>
              <a:avLst/>
              <a:gdLst/>
              <a:ahLst/>
              <a:cxnLst/>
              <a:rect r="r" b="b" t="t" l="l"/>
              <a:pathLst>
                <a:path h="1805424" w="2624176">
                  <a:moveTo>
                    <a:pt x="41837" y="0"/>
                  </a:moveTo>
                  <a:lnTo>
                    <a:pt x="2582339" y="0"/>
                  </a:lnTo>
                  <a:cubicBezTo>
                    <a:pt x="2605445" y="0"/>
                    <a:pt x="2624176" y="18731"/>
                    <a:pt x="2624176" y="41837"/>
                  </a:cubicBezTo>
                  <a:lnTo>
                    <a:pt x="2624176" y="1763587"/>
                  </a:lnTo>
                  <a:cubicBezTo>
                    <a:pt x="2624176" y="1786693"/>
                    <a:pt x="2605445" y="1805424"/>
                    <a:pt x="2582339" y="1805424"/>
                  </a:cubicBezTo>
                  <a:lnTo>
                    <a:pt x="41837" y="1805424"/>
                  </a:lnTo>
                  <a:cubicBezTo>
                    <a:pt x="18731" y="1805424"/>
                    <a:pt x="0" y="1786693"/>
                    <a:pt x="0" y="1763587"/>
                  </a:cubicBezTo>
                  <a:lnTo>
                    <a:pt x="0" y="41837"/>
                  </a:lnTo>
                  <a:cubicBezTo>
                    <a:pt x="0" y="18731"/>
                    <a:pt x="18731" y="0"/>
                    <a:pt x="418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624176" cy="186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86935" y="2897895"/>
            <a:ext cx="2987836" cy="2884620"/>
          </a:xfrm>
          <a:custGeom>
            <a:avLst/>
            <a:gdLst/>
            <a:ahLst/>
            <a:cxnLst/>
            <a:rect r="r" b="b" t="t" l="l"/>
            <a:pathLst>
              <a:path h="2884620" w="2987836">
                <a:moveTo>
                  <a:pt x="0" y="0"/>
                </a:moveTo>
                <a:lnTo>
                  <a:pt x="2987836" y="0"/>
                </a:lnTo>
                <a:lnTo>
                  <a:pt x="2987836" y="2884620"/>
                </a:lnTo>
                <a:lnTo>
                  <a:pt x="0" y="2884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17790" y="914400"/>
            <a:ext cx="10061981" cy="121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8"/>
              </a:lnSpc>
            </a:pPr>
            <a:r>
              <a:rPr lang="en-US" sz="3187" spc="23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Retrieval Corpus </a:t>
            </a:r>
          </a:p>
          <a:p>
            <a:pPr algn="l" marL="0" indent="0" lvl="0">
              <a:lnSpc>
                <a:spcPts val="4908"/>
              </a:lnSpc>
              <a:spcBef>
                <a:spcPct val="0"/>
              </a:spcBef>
            </a:pPr>
            <a:r>
              <a:rPr lang="en-US" sz="3187" spc="23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(RAG Knowledge Base)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08109" y="2771499"/>
            <a:ext cx="9070768" cy="414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26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retrieval corpus contains coding knowledge used by the R</a:t>
            </a:r>
            <a:r>
              <a:rPr lang="en-US" sz="26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 model.</a:t>
            </a:r>
          </a:p>
          <a:p>
            <a:pPr algn="l">
              <a:lnSpc>
                <a:spcPts val="3660"/>
              </a:lnSpc>
            </a:pPr>
            <a:r>
              <a:rPr lang="en-US" b="true" sz="26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Sources:</a:t>
            </a:r>
          </a:p>
          <a:p>
            <a:pPr algn="l" marL="564567" indent="-282283" lvl="1">
              <a:lnSpc>
                <a:spcPts val="3660"/>
              </a:lnSpc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PEP8 coding guidelines</a:t>
            </a:r>
          </a:p>
          <a:p>
            <a:pPr algn="l" marL="564567" indent="-282283" lvl="1">
              <a:lnSpc>
                <a:spcPts val="3660"/>
              </a:lnSpc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PEP257 docstring rules</a:t>
            </a:r>
          </a:p>
          <a:p>
            <a:pPr algn="l" marL="564567" indent="-282283" lvl="1">
              <a:lnSpc>
                <a:spcPts val="3660"/>
              </a:lnSpc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Repository style guides</a:t>
            </a:r>
          </a:p>
          <a:p>
            <a:pPr algn="l" marL="564567" indent="-282283" lvl="1">
              <a:lnSpc>
                <a:spcPts val="3660"/>
              </a:lnSpc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Linter rule explanations</a:t>
            </a:r>
          </a:p>
          <a:p>
            <a:pPr algn="l" marL="564567" indent="-282283" lvl="1">
              <a:lnSpc>
                <a:spcPts val="3660"/>
              </a:lnSpc>
              <a:buFont typeface="Arial"/>
              <a:buChar char="•"/>
            </a:pPr>
            <a:r>
              <a:rPr lang="en-US" sz="26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Accepted review comments</a:t>
            </a:r>
          </a:p>
          <a:p>
            <a:pPr algn="ctr">
              <a:lnSpc>
                <a:spcPts val="366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795359" y="6868274"/>
            <a:ext cx="14492641" cy="367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33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</a:t>
            </a:r>
            <a:r>
              <a:rPr lang="en-US" b="true" sz="233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ample: </a:t>
            </a:r>
          </a:p>
          <a:p>
            <a:pPr algn="l">
              <a:lnSpc>
                <a:spcPts val="3271"/>
              </a:lnSpc>
            </a:pPr>
            <a:r>
              <a:rPr lang="en-US" sz="23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</a:t>
            </a:r>
          </a:p>
          <a:p>
            <a:pPr algn="l">
              <a:lnSpc>
                <a:spcPts val="3271"/>
              </a:lnSpc>
            </a:pPr>
            <a:r>
              <a:rPr lang="en-US" sz="23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"chunk_id": "guideline_32",</a:t>
            </a:r>
          </a:p>
          <a:p>
            <a:pPr algn="l">
              <a:lnSpc>
                <a:spcPts val="3271"/>
              </a:lnSpc>
            </a:pPr>
            <a:r>
              <a:rPr lang="en-US" sz="23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"text": "Avoid importing modules that are not used in the file. Unused imports make code harder to read.",</a:t>
            </a:r>
          </a:p>
          <a:p>
            <a:pPr algn="l">
              <a:lnSpc>
                <a:spcPts val="3271"/>
              </a:lnSpc>
            </a:pPr>
            <a:r>
              <a:rPr lang="en-US" sz="23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"category": "unused_import",</a:t>
            </a:r>
          </a:p>
          <a:p>
            <a:pPr algn="l">
              <a:lnSpc>
                <a:spcPts val="3271"/>
              </a:lnSpc>
            </a:pPr>
            <a:r>
              <a:rPr lang="en-US" sz="23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"source_type": "project_guideline"</a:t>
            </a:r>
          </a:p>
          <a:p>
            <a:pPr algn="l">
              <a:lnSpc>
                <a:spcPts val="3271"/>
              </a:lnSpc>
            </a:pPr>
            <a:r>
              <a:rPr lang="en-US" sz="23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  <a:p>
            <a:pPr algn="l">
              <a:lnSpc>
                <a:spcPts val="3271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3408" y="1273472"/>
            <a:ext cx="6436179" cy="7899787"/>
            <a:chOff x="0" y="0"/>
            <a:chExt cx="2624176" cy="32209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4176" cy="3220922"/>
            </a:xfrm>
            <a:custGeom>
              <a:avLst/>
              <a:gdLst/>
              <a:ahLst/>
              <a:cxnLst/>
              <a:rect r="r" b="b" t="t" l="l"/>
              <a:pathLst>
                <a:path h="3220922" w="2624176">
                  <a:moveTo>
                    <a:pt x="34883" y="0"/>
                  </a:moveTo>
                  <a:lnTo>
                    <a:pt x="2589293" y="0"/>
                  </a:lnTo>
                  <a:cubicBezTo>
                    <a:pt x="2608558" y="0"/>
                    <a:pt x="2624176" y="15618"/>
                    <a:pt x="2624176" y="34883"/>
                  </a:cubicBezTo>
                  <a:lnTo>
                    <a:pt x="2624176" y="3186039"/>
                  </a:lnTo>
                  <a:cubicBezTo>
                    <a:pt x="2624176" y="3205304"/>
                    <a:pt x="2608558" y="3220922"/>
                    <a:pt x="2589293" y="3220922"/>
                  </a:cubicBezTo>
                  <a:lnTo>
                    <a:pt x="34883" y="3220922"/>
                  </a:lnTo>
                  <a:cubicBezTo>
                    <a:pt x="25632" y="3220922"/>
                    <a:pt x="16759" y="3217247"/>
                    <a:pt x="10217" y="3210705"/>
                  </a:cubicBezTo>
                  <a:cubicBezTo>
                    <a:pt x="3675" y="3204163"/>
                    <a:pt x="0" y="3195290"/>
                    <a:pt x="0" y="3186039"/>
                  </a:cubicBezTo>
                  <a:lnTo>
                    <a:pt x="0" y="34883"/>
                  </a:lnTo>
                  <a:cubicBezTo>
                    <a:pt x="0" y="15618"/>
                    <a:pt x="15618" y="0"/>
                    <a:pt x="348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624176" cy="3278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40481" y="3165965"/>
            <a:ext cx="4262034" cy="4114800"/>
          </a:xfrm>
          <a:custGeom>
            <a:avLst/>
            <a:gdLst/>
            <a:ahLst/>
            <a:cxnLst/>
            <a:rect r="r" b="b" t="t" l="l"/>
            <a:pathLst>
              <a:path h="4114800" w="4262034">
                <a:moveTo>
                  <a:pt x="0" y="0"/>
                </a:moveTo>
                <a:lnTo>
                  <a:pt x="4262034" y="0"/>
                </a:lnTo>
                <a:lnTo>
                  <a:pt x="42620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91907" y="1360750"/>
            <a:ext cx="8441013" cy="121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8"/>
              </a:lnSpc>
              <a:spcBef>
                <a:spcPct val="0"/>
              </a:spcBef>
            </a:pPr>
            <a:r>
              <a:rPr lang="en-US" sz="3187" spc="23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Retrieval Corpus Preparation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91907" y="3379106"/>
            <a:ext cx="9696093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Chunking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Strategy: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200–400 tokens per chunk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One rule per chunk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Minimal overlap</a:t>
            </a:r>
          </a:p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Embedding Model: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bge-large-en-v1.5</a:t>
            </a:r>
          </a:p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Embeddings stored in: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FAISS Vector Database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for semantic retrieval during code review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6418" y="2419000"/>
            <a:ext cx="5869557" cy="5449001"/>
            <a:chOff x="0" y="0"/>
            <a:chExt cx="909348" cy="8441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348" cy="844193"/>
            </a:xfrm>
            <a:custGeom>
              <a:avLst/>
              <a:gdLst/>
              <a:ahLst/>
              <a:cxnLst/>
              <a:rect r="r" b="b" t="t" l="l"/>
              <a:pathLst>
                <a:path h="844193" w="909348">
                  <a:moveTo>
                    <a:pt x="77821" y="0"/>
                  </a:moveTo>
                  <a:lnTo>
                    <a:pt x="831527" y="0"/>
                  </a:lnTo>
                  <a:cubicBezTo>
                    <a:pt x="852167" y="0"/>
                    <a:pt x="871961" y="8199"/>
                    <a:pt x="886555" y="22793"/>
                  </a:cubicBezTo>
                  <a:cubicBezTo>
                    <a:pt x="901149" y="37387"/>
                    <a:pt x="909348" y="57181"/>
                    <a:pt x="909348" y="77821"/>
                  </a:cubicBezTo>
                  <a:lnTo>
                    <a:pt x="909348" y="766372"/>
                  </a:lnTo>
                  <a:cubicBezTo>
                    <a:pt x="909348" y="809351"/>
                    <a:pt x="874507" y="844193"/>
                    <a:pt x="831527" y="844193"/>
                  </a:cubicBezTo>
                  <a:lnTo>
                    <a:pt x="77821" y="844193"/>
                  </a:lnTo>
                  <a:cubicBezTo>
                    <a:pt x="57181" y="844193"/>
                    <a:pt x="37387" y="835994"/>
                    <a:pt x="22793" y="821400"/>
                  </a:cubicBezTo>
                  <a:cubicBezTo>
                    <a:pt x="8199" y="806805"/>
                    <a:pt x="0" y="787011"/>
                    <a:pt x="0" y="766372"/>
                  </a:cubicBezTo>
                  <a:lnTo>
                    <a:pt x="0" y="77821"/>
                  </a:lnTo>
                  <a:cubicBezTo>
                    <a:pt x="0" y="57181"/>
                    <a:pt x="8199" y="37387"/>
                    <a:pt x="22793" y="22793"/>
                  </a:cubicBezTo>
                  <a:cubicBezTo>
                    <a:pt x="37387" y="8199"/>
                    <a:pt x="57181" y="0"/>
                    <a:pt x="77821" y="0"/>
                  </a:cubicBezTo>
                  <a:close/>
                </a:path>
              </a:pathLst>
            </a:custGeom>
            <a:blipFill>
              <a:blip r:embed="rId2"/>
              <a:stretch>
                <a:fillRect l="-19626" t="0" r="-196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06377" y="261393"/>
            <a:ext cx="7016423" cy="1410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6"/>
              </a:lnSpc>
            </a:pPr>
            <a:r>
              <a:rPr lang="en-US" sz="3724" spc="27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Static Analysis 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47865" y="2352325"/>
            <a:ext cx="5536049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to run baseline tools: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Pylint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Flake8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Dataset contains: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File path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Code diff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Full code context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403756" y="6742719"/>
            <a:ext cx="10560318" cy="332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8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structure:</a:t>
            </a:r>
          </a:p>
          <a:p>
            <a:pPr algn="l">
              <a:lnSpc>
                <a:spcPts val="2635"/>
              </a:lnSpc>
            </a:pPr>
          </a:p>
          <a:p>
            <a:pPr algn="l">
              <a:lnSpc>
                <a:spcPts val="2635"/>
              </a:lnSpc>
            </a:pPr>
            <a:r>
              <a:rPr lang="en-US" sz="18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</a:t>
            </a:r>
          </a:p>
          <a:p>
            <a:pPr algn="l">
              <a:lnSpc>
                <a:spcPts val="2635"/>
              </a:lnSpc>
            </a:pPr>
            <a:r>
              <a:rPr lang="en-US" sz="18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"file_path": "utils/helpers.py",</a:t>
            </a:r>
          </a:p>
          <a:p>
            <a:pPr algn="l">
              <a:lnSpc>
                <a:spcPts val="2635"/>
              </a:lnSpc>
            </a:pPr>
            <a:r>
              <a:rPr lang="en-US" sz="18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"</a:t>
            </a:r>
            <a:r>
              <a:rPr lang="en-US" sz="18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diff_code": "import numpy as np\nimport math\n..."</a:t>
            </a:r>
          </a:p>
          <a:p>
            <a:pPr algn="l">
              <a:lnSpc>
                <a:spcPts val="2635"/>
              </a:lnSpc>
            </a:pPr>
            <a:r>
              <a:rPr lang="en-US" sz="18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  <a:p>
            <a:pPr algn="l">
              <a:lnSpc>
                <a:spcPts val="2635"/>
              </a:lnSpc>
            </a:pPr>
          </a:p>
          <a:p>
            <a:pPr algn="l">
              <a:lnSpc>
                <a:spcPts val="2635"/>
              </a:lnSpc>
            </a:pPr>
            <a:r>
              <a:rPr lang="en-US" sz="18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These tools generate rule-based violation reports that serve as a baseline for comparison with LLM-based systems.</a:t>
            </a:r>
          </a:p>
          <a:p>
            <a:pPr algn="l">
              <a:lnSpc>
                <a:spcPts val="2635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26559" y="2416536"/>
            <a:ext cx="12282262" cy="5129240"/>
          </a:xfrm>
          <a:custGeom>
            <a:avLst/>
            <a:gdLst/>
            <a:ahLst/>
            <a:cxnLst/>
            <a:rect r="r" b="b" t="t" l="l"/>
            <a:pathLst>
              <a:path h="5129240" w="12282262">
                <a:moveTo>
                  <a:pt x="0" y="0"/>
                </a:moveTo>
                <a:lnTo>
                  <a:pt x="12282262" y="0"/>
                </a:lnTo>
                <a:lnTo>
                  <a:pt x="12282262" y="5129240"/>
                </a:lnTo>
                <a:lnTo>
                  <a:pt x="0" y="5129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0791" y="2076857"/>
            <a:ext cx="3664648" cy="7181443"/>
          </a:xfrm>
          <a:custGeom>
            <a:avLst/>
            <a:gdLst/>
            <a:ahLst/>
            <a:cxnLst/>
            <a:rect r="r" b="b" t="t" l="l"/>
            <a:pathLst>
              <a:path h="7181443" w="3664648">
                <a:moveTo>
                  <a:pt x="0" y="0"/>
                </a:moveTo>
                <a:lnTo>
                  <a:pt x="3664649" y="0"/>
                </a:lnTo>
                <a:lnTo>
                  <a:pt x="3664649" y="7181443"/>
                </a:lnTo>
                <a:lnTo>
                  <a:pt x="0" y="7181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36710" y="673498"/>
            <a:ext cx="8441013" cy="596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8"/>
              </a:lnSpc>
              <a:spcBef>
                <a:spcPct val="0"/>
              </a:spcBef>
            </a:pPr>
            <a:r>
              <a:rPr lang="en-US" sz="3187" spc="23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System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DAHDFbqzbWk</dc:identifier>
  <dcterms:modified xsi:type="dcterms:W3CDTF">2011-08-01T06:04:30Z</dcterms:modified>
  <cp:revision>1</cp:revision>
  <dc:title>Data Science and AI Lab Project</dc:title>
</cp:coreProperties>
</file>